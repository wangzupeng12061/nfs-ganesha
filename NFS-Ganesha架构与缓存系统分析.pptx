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8942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bg/slid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" y="14813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338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NFS-Ganesha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13232" y="2057400"/>
            <a:ext cx="6766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源码架构与缓存系统分析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731520" y="299923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整体架构 · MDCACHE 算法 · 实时命中率计算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800600" y="488289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汇报人：王祖鹏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297680" y="64739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Zupeng Wang | HUST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914400" y="645566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May 18, 2026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985248" y="63642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bg/slid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96112" y="645566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May 18, 2026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4736592" y="646480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Zupeng Wang | HUST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9985248" y="63642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29184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汇报路线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713232" y="1600200"/>
            <a:ext cx="713232" cy="402336"/>
          </a:xfrm>
          <a:prstGeom prst="roundRect">
            <a:avLst>
              <a:gd name="adj" fmla="val 27273"/>
            </a:avLst>
          </a:prstGeom>
          <a:solidFill>
            <a:srgbClr val="3F46C8"/>
          </a:solidFill>
          <a:ln>
            <a:solidFill>
              <a:srgbClr val="3F46C8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11480" y="2212848"/>
            <a:ext cx="2148840" cy="1115568"/>
          </a:xfrm>
          <a:prstGeom prst="roundRect">
            <a:avLst>
              <a:gd name="adj" fmla="val 9836"/>
            </a:avLst>
          </a:prstGeom>
          <a:solidFill>
            <a:srgbClr val="F7F8FF"/>
          </a:solidFill>
          <a:ln w="12700">
            <a:solidFill>
              <a:srgbClr val="E7E8F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整体架构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MainNFSD、Protocols、SAL、MDCACHE、FSAL 的分层关系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103120" y="1828800"/>
            <a:ext cx="612648" cy="0"/>
          </a:xfrm>
          <a:prstGeom prst="line">
            <a:avLst/>
          </a:prstGeom>
          <a:noFill/>
          <a:ln w="25400">
            <a:solidFill>
              <a:srgbClr val="7E82D7"/>
            </a:solidFill>
            <a:prstDash val="solid"/>
            <a:headEnd type="none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3310128" y="1600200"/>
            <a:ext cx="713232" cy="402336"/>
          </a:xfrm>
          <a:prstGeom prst="roundRect">
            <a:avLst>
              <a:gd name="adj" fmla="val 27273"/>
            </a:avLst>
          </a:prstGeom>
          <a:solidFill>
            <a:srgbClr val="E7E8FB"/>
          </a:solidFill>
          <a:ln>
            <a:solidFill>
              <a:srgbClr val="E7E8FB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338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008376" y="2212848"/>
            <a:ext cx="214884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E7E8F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缓存核心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MDCACHE：哈希查询 + 多级 LRU + 属性过期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700016" y="1828800"/>
            <a:ext cx="612648" cy="0"/>
          </a:xfrm>
          <a:prstGeom prst="line">
            <a:avLst/>
          </a:prstGeom>
          <a:noFill/>
          <a:ln w="25400">
            <a:solidFill>
              <a:srgbClr val="7E82D7"/>
            </a:solidFill>
            <a:prstDash val="solid"/>
            <a:headEnd type="none"/>
            <a:tailEnd type="triangle"/>
          </a:ln>
        </p:spPr>
      </p:sp>
      <p:sp>
        <p:nvSpPr>
          <p:cNvPr id="14" name="Text 11"/>
          <p:cNvSpPr/>
          <p:nvPr/>
        </p:nvSpPr>
        <p:spPr>
          <a:xfrm>
            <a:off x="5907024" y="1600200"/>
            <a:ext cx="713232" cy="402336"/>
          </a:xfrm>
          <a:prstGeom prst="roundRect">
            <a:avLst>
              <a:gd name="adj" fmla="val 27273"/>
            </a:avLst>
          </a:prstGeom>
          <a:solidFill>
            <a:srgbClr val="E7E8FB"/>
          </a:solidFill>
          <a:ln>
            <a:solidFill>
              <a:srgbClr val="E7E8FB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338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605272" y="2212848"/>
            <a:ext cx="214884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E7E8F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淘汰算法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 个 LRU lane、L1/L2/ACTIVE/CLEANUP、水位控制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296912" y="1828800"/>
            <a:ext cx="612648" cy="0"/>
          </a:xfrm>
          <a:prstGeom prst="line">
            <a:avLst/>
          </a:prstGeom>
          <a:noFill/>
          <a:ln w="25400">
            <a:solidFill>
              <a:srgbClr val="7E82D7"/>
            </a:solidFill>
            <a:prstDash val="solid"/>
            <a:headEnd type="none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8503920" y="1600200"/>
            <a:ext cx="713232" cy="402336"/>
          </a:xfrm>
          <a:prstGeom prst="roundRect">
            <a:avLst>
              <a:gd name="adj" fmla="val 27273"/>
            </a:avLst>
          </a:prstGeom>
          <a:solidFill>
            <a:srgbClr val="E7E8FB"/>
          </a:solidFill>
          <a:ln>
            <a:solidFill>
              <a:srgbClr val="E7E8FB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338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202168" y="2212848"/>
            <a:ext cx="214884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E7E8FB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实时指标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hit/miss 计数器、Prometheus rate()、按 export 维度观察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960120" y="4498848"/>
            <a:ext cx="9738360" cy="749808"/>
          </a:xfrm>
          <a:prstGeom prst="roundRect">
            <a:avLst>
              <a:gd name="adj" fmla="val 14634"/>
            </a:avLst>
          </a:prstGeom>
          <a:solidFill>
            <a:srgbClr val="F4F5FF"/>
          </a:solidFill>
          <a:ln w="12700">
            <a:solidFill>
              <a:srgbClr val="D5D7F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338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核心结论：NFS-Ganesha 的缓存不是单一 LRU，而是“并发哈希索引 + 多级队列淘汰 + 指标体系”的组合设计。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bg/slid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96112" y="645566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May 18, 2026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4736592" y="646480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Zupeng Wang | HUST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9985248" y="63642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29184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项目整体架构：从协议处理到后端文件系统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347472" y="841248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NFS-Ganesha 通过分层结构把网络协议、状态管理、缓存和底层存储解耦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907792" y="1024128"/>
            <a:ext cx="0" cy="4050792"/>
          </a:xfrm>
          <a:prstGeom prst="line">
            <a:avLst/>
          </a:prstGeom>
          <a:noFill/>
          <a:ln w="63500">
            <a:solidFill>
              <a:srgbClr val="D7D9F7"/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777240" y="1353312"/>
            <a:ext cx="425196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ADC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Protocols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NFS / NLM / 9P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协议解析、RPC 分发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7240" y="2304288"/>
            <a:ext cx="425196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ADC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SAL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State Abstraction Layer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锁、委托、open state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77240" y="3255264"/>
            <a:ext cx="4251960" cy="694944"/>
          </a:xfrm>
          <a:prstGeom prst="roundRect">
            <a:avLst>
              <a:gd name="adj" fmla="val 15789"/>
            </a:avLst>
          </a:prstGeom>
          <a:solidFill>
            <a:srgbClr val="EEF0FF"/>
          </a:solidFill>
          <a:ln w="12700">
            <a:solidFill>
              <a:srgbClr val="3F46C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6338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MDCACHE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26338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Stackable FSAL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26338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元数据缓存与目录缓存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77240" y="4206240"/>
            <a:ext cx="425196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ADC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FSAL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VFS / CEPH / GLUSTER / GPFS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底层文件系统访问抽象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806440" y="1252728"/>
            <a:ext cx="201168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7E8F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MainNFSD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577840" y="2029968"/>
            <a:ext cx="278892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nfs_main.c / nfs_init.c / nfs_worker_thread.c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负责服务启动、线程管理、RPC 分发和工作线程调度。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869680" y="1252728"/>
            <a:ext cx="201168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7E8F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support / monitoring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641080" y="2029968"/>
            <a:ext cx="274320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日志、OS 抽象、Prometheus 指标、动态计数器。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623560" y="3977640"/>
            <a:ext cx="5303520" cy="914400"/>
          </a:xfrm>
          <a:prstGeom prst="roundRect">
            <a:avLst>
              <a:gd name="adj" fmla="val 12000"/>
            </a:avLst>
          </a:prstGeom>
          <a:solidFill>
            <a:srgbClr val="F5F6FF"/>
          </a:solidFill>
          <a:ln w="12700">
            <a:solidFill>
              <a:srgbClr val="D5D7F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338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缓存层位置最关键：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6338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位于 FSAL 之上，对协议层透明，但能拦截 lookup/getattr 等元数据路径。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bg/slid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96112" y="645566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May 18, 2026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4736592" y="646480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Zupeng Wang | HUST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9985248" y="63642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29184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一次查询请求的执行路径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347472" y="841248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命中时直接从 MDCACHE 返回；未命中时落到下层 FSAL 并回填缓存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011680" y="2093976"/>
            <a:ext cx="429768" cy="0"/>
          </a:xfrm>
          <a:prstGeom prst="line">
            <a:avLst/>
          </a:prstGeom>
          <a:noFill/>
          <a:ln w="25400">
            <a:solidFill>
              <a:srgbClr val="7E82D7"/>
            </a:solidFill>
            <a:prstDash val="solid"/>
            <a:headEnd type="none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133088" y="2093976"/>
            <a:ext cx="411480" cy="0"/>
          </a:xfrm>
          <a:prstGeom prst="line">
            <a:avLst/>
          </a:prstGeom>
          <a:noFill/>
          <a:ln w="25400">
            <a:solidFill>
              <a:srgbClr val="7E82D7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6053328" y="2093976"/>
            <a:ext cx="329184" cy="0"/>
          </a:xfrm>
          <a:prstGeom prst="line">
            <a:avLst/>
          </a:prstGeom>
          <a:noFill/>
          <a:ln w="25400">
            <a:solidFill>
              <a:srgbClr val="7E82D7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8074152" y="2093976"/>
            <a:ext cx="374904" cy="0"/>
          </a:xfrm>
          <a:prstGeom prst="line">
            <a:avLst/>
          </a:prstGeom>
          <a:noFill/>
          <a:ln w="25400">
            <a:solidFill>
              <a:srgbClr val="7E82D7"/>
            </a:solidFill>
            <a:prstDash val="solid"/>
            <a:headEnd type="none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594360" y="1828800"/>
            <a:ext cx="137160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E7E8F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NFS 客户端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2514600" y="1828800"/>
            <a:ext cx="1572768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E7E8F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RPC 分发/Worker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617720" y="1828800"/>
            <a:ext cx="1389888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E7E8F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协议处理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455664" y="1828800"/>
            <a:ext cx="1572768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E7E8F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mdc_lookup()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522208" y="1828800"/>
            <a:ext cx="15361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E7E8F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cih_lookup()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9290304" y="2404872"/>
            <a:ext cx="0" cy="1298448"/>
          </a:xfrm>
          <a:prstGeom prst="line">
            <a:avLst/>
          </a:prstGeom>
          <a:noFill/>
          <a:ln w="27940">
            <a:solidFill>
              <a:srgbClr val="20A67A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9290304" y="2404872"/>
            <a:ext cx="658368" cy="1298448"/>
          </a:xfrm>
          <a:prstGeom prst="line">
            <a:avLst/>
          </a:prstGeom>
          <a:noFill/>
          <a:ln w="27940">
            <a:solidFill>
              <a:srgbClr val="F28C28"/>
            </a:solidFill>
            <a:prstDash val="solid"/>
            <a:headEnd type="none"/>
            <a:tailEnd type="triangle"/>
          </a:ln>
        </p:spPr>
      </p:sp>
      <p:sp>
        <p:nvSpPr>
          <p:cNvPr id="19" name="Text 16"/>
          <p:cNvSpPr/>
          <p:nvPr/>
        </p:nvSpPr>
        <p:spPr>
          <a:xfrm>
            <a:off x="6629400" y="3703320"/>
            <a:ext cx="2057400" cy="914400"/>
          </a:xfrm>
          <a:prstGeom prst="roundRect">
            <a:avLst>
              <a:gd name="adj" fmla="val 12000"/>
            </a:avLst>
          </a:prstGeom>
          <a:solidFill>
            <a:srgbClr val="ECFFF8"/>
          </a:solidFill>
          <a:ln w="12700">
            <a:solidFill>
              <a:srgbClr val="A5E7D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6B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缓存命中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36B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cache_hit++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36B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直接返回 handle/attrs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9144000" y="370332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FFF6EA"/>
          </a:solidFill>
          <a:ln w="12700">
            <a:solidFill>
              <a:srgbClr val="F5CF9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8A4B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缓存未命中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8A4B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cache_miss++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8A4B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访问下层 FSAL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1078992" y="5047488"/>
            <a:ext cx="9646920" cy="475488"/>
          </a:xfrm>
          <a:prstGeom prst="rect">
            <a:avLst/>
          </a:prstGeom>
          <a:solidFill>
            <a:srgbClr val="F3F4FA"/>
          </a:solidFill>
          <a:ln>
            <a:solidFill>
              <a:srgbClr val="D8D9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A2D3E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dynamic_metrics__mdcache_cache_hit(OPERATION, export_id);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A2D3E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dynamic_metrics__mdcache_cache_miss(OPERATION, export_id);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bg/slid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96112" y="645566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May 18, 2026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4736592" y="646480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Zupeng Wang | HUST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9985248" y="63642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29184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MDCACHE：可堆叠的元数据缓存层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347472" y="841248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它位于其他 FSAL 之上，为 lookup、getattr、目录项等提供透明缓存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22960" y="1508760"/>
            <a:ext cx="21945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7E8F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协议层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NFSv3 / NFSv4 / 9P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090672" y="1828800"/>
            <a:ext cx="859536" cy="0"/>
          </a:xfrm>
          <a:prstGeom prst="line">
            <a:avLst/>
          </a:prstGeom>
          <a:noFill/>
          <a:ln w="25400">
            <a:solidFill>
              <a:srgbClr val="7E82D7"/>
            </a:solidFill>
            <a:prstDash val="solid"/>
            <a:headEnd type="none"/>
            <a:tailEnd type="triangle"/>
          </a:ln>
        </p:spPr>
      </p:sp>
      <p:sp>
        <p:nvSpPr>
          <p:cNvPr id="10" name="Text 7"/>
          <p:cNvSpPr/>
          <p:nvPr/>
        </p:nvSpPr>
        <p:spPr>
          <a:xfrm>
            <a:off x="3977640" y="1353312"/>
            <a:ext cx="3977640" cy="987552"/>
          </a:xfrm>
          <a:prstGeom prst="roundRect">
            <a:avLst>
              <a:gd name="adj" fmla="val 11111"/>
            </a:avLst>
          </a:prstGeom>
          <a:solidFill>
            <a:srgbClr val="EEF0FF"/>
          </a:solidFill>
          <a:ln w="12700">
            <a:solidFill>
              <a:srgbClr val="3F46C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338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MDCACHE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6338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Hash + LRU + Dirent + Attr Expiration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028432" y="1828800"/>
            <a:ext cx="704088" cy="0"/>
          </a:xfrm>
          <a:prstGeom prst="line">
            <a:avLst/>
          </a:prstGeom>
          <a:noFill/>
          <a:ln w="25400">
            <a:solidFill>
              <a:srgbClr val="7E82D7"/>
            </a:solidFill>
            <a:prstDash val="solid"/>
            <a:headEnd type="none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8759952" y="1508760"/>
            <a:ext cx="2468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7E8F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后端 FSAL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VFS / Ceph / Gluster / GPFS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22960" y="3154680"/>
            <a:ext cx="22402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DC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快速查找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 mdcache_key 的哈希索引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474720" y="3154680"/>
            <a:ext cx="22402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DC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一致性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属性过期与 STALE 检测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126480" y="3154680"/>
            <a:ext cx="22402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DC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目录项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AVL 树映射 cookie → dirent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778240" y="3154680"/>
            <a:ext cx="22402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DCEA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并发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分区锁 + 车道分片降低竞争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143000" y="4800600"/>
            <a:ext cx="9555480" cy="731520"/>
          </a:xfrm>
          <a:prstGeom prst="roundRect">
            <a:avLst>
              <a:gd name="adj" fmla="val 15000"/>
            </a:avLst>
          </a:prstGeom>
          <a:solidFill>
            <a:srgbClr val="F7F8FF"/>
          </a:solidFill>
          <a:ln w="12700">
            <a:solidFill>
              <a:srgbClr val="E1E2F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6338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关键目录：FSAL/Stackable_FSALs/FSAL_MDCACHE/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26338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关键文件：mdcache_main.c · mdcache_lru.c · mdcache_hash.c · mdcache_handle.c · mdcache_helpers.c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bg/slid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96112" y="645566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May 18, 2026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4736592" y="646480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Zupeng Wang | HUST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9985248" y="63642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29184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哈希查询：分区 RBTree 结构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347472" y="841248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将全局索引拆成多个分区，每个分区独立加锁，降低高并发访问冲突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1828800"/>
            <a:ext cx="20574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7E8F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mdcache_key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(hk, fsal, fsal handle)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788920" y="2212848"/>
            <a:ext cx="868680" cy="0"/>
          </a:xfrm>
          <a:prstGeom prst="line">
            <a:avLst/>
          </a:prstGeom>
          <a:noFill/>
          <a:ln w="25400">
            <a:solidFill>
              <a:srgbClr val="7E82D7"/>
            </a:solidFill>
            <a:prstDash val="solid"/>
            <a:headEnd type="none"/>
            <a:tailEnd type="triangle"/>
          </a:ln>
        </p:spPr>
      </p:sp>
      <p:sp>
        <p:nvSpPr>
          <p:cNvPr id="10" name="Text 7"/>
          <p:cNvSpPr/>
          <p:nvPr/>
        </p:nvSpPr>
        <p:spPr>
          <a:xfrm>
            <a:off x="3703320" y="1700784"/>
            <a:ext cx="2148840" cy="1024128"/>
          </a:xfrm>
          <a:prstGeom prst="roundRect">
            <a:avLst>
              <a:gd name="adj" fmla="val 10714"/>
            </a:avLst>
          </a:prstGeom>
          <a:solidFill>
            <a:srgbClr val="F5F6FF"/>
          </a:solidFill>
          <a:ln w="12700">
            <a:solidFill>
              <a:srgbClr val="D5D7F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338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hash_func_both()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6338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 partition index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6338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 RBTree hash key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0" y="2212848"/>
            <a:ext cx="786384" cy="0"/>
          </a:xfrm>
          <a:prstGeom prst="line">
            <a:avLst/>
          </a:prstGeom>
          <a:noFill/>
          <a:ln w="25400">
            <a:solidFill>
              <a:srgbClr val="7E82D7"/>
            </a:solidFill>
            <a:prstDash val="solid"/>
            <a:headEnd type="none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6784848" y="1353312"/>
            <a:ext cx="21031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ADC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Partition 1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RWLock + RBTree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9098280" y="1508760"/>
            <a:ext cx="987552" cy="320040"/>
          </a:xfrm>
          <a:prstGeom prst="roundRect">
            <a:avLst>
              <a:gd name="adj" fmla="val 34286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F46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○  ○  ○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784848" y="2359152"/>
            <a:ext cx="21031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ADC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Partition 2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RWLock + RBTree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9098280" y="2514600"/>
            <a:ext cx="987552" cy="320040"/>
          </a:xfrm>
          <a:prstGeom prst="roundRect">
            <a:avLst>
              <a:gd name="adj" fmla="val 34286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F46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○  ○  ○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784848" y="3364992"/>
            <a:ext cx="21031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ADC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Partition 3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RWLock + RBTree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9098280" y="3520440"/>
            <a:ext cx="987552" cy="320040"/>
          </a:xfrm>
          <a:prstGeom prst="roundRect">
            <a:avLst>
              <a:gd name="adj" fmla="val 34286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F46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○  ○  ○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960120" y="4480560"/>
            <a:ext cx="2057400" cy="438912"/>
          </a:xfrm>
          <a:prstGeom prst="roundRect">
            <a:avLst>
              <a:gd name="adj" fmla="val 25000"/>
            </a:avLst>
          </a:prstGeom>
          <a:solidFill>
            <a:srgbClr val="3F46C8"/>
          </a:solidFill>
          <a:ln w="12700">
            <a:solidFill>
              <a:srgbClr val="3F46C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并发设计要点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291840" y="4407408"/>
            <a:ext cx="70408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分区级 pthread_rwlock_t，读多写少场景减少全局锁瓶颈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每个分区维护独立红黑树，查询复杂度约 O(log n)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cache_entry_count 支持预期条目缓存，降低重复查找成本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bg/slid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96112" y="645566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May 18, 2026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4736592" y="646480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Zupeng Wang | HUST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9985248" y="63642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29184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缓存算法：多级 LRU 队列（MQ 思路）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347472" y="841248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不是单队列 LRU，而是通过 L1/L2/ACTIVE/CLEANUP 表达冷热、引用与回收状态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679192" y="2221992"/>
            <a:ext cx="612648" cy="0"/>
          </a:xfrm>
          <a:prstGeom prst="line">
            <a:avLst/>
          </a:prstGeom>
          <a:noFill/>
          <a:ln w="27940">
            <a:solidFill>
              <a:srgbClr val="7E82D7"/>
            </a:solidFill>
            <a:prstDash val="solid"/>
            <a:headEnd type="none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5367528" y="2221992"/>
            <a:ext cx="612648" cy="0"/>
          </a:xfrm>
          <a:prstGeom prst="line">
            <a:avLst/>
          </a:prstGeom>
          <a:noFill/>
          <a:ln w="27940">
            <a:solidFill>
              <a:srgbClr val="7E82D7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8055864" y="2221992"/>
            <a:ext cx="612648" cy="0"/>
          </a:xfrm>
          <a:prstGeom prst="line">
            <a:avLst/>
          </a:prstGeom>
          <a:noFill/>
          <a:ln w="27940">
            <a:solidFill>
              <a:srgbClr val="7E82D7"/>
            </a:solidFill>
            <a:prstDash val="solid"/>
            <a:headEnd type="none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713232" y="1828800"/>
            <a:ext cx="1965960" cy="841248"/>
          </a:xfrm>
          <a:prstGeom prst="roundRect">
            <a:avLst>
              <a:gd name="adj" fmla="val 13043"/>
            </a:avLst>
          </a:prstGeom>
          <a:solidFill>
            <a:srgbClr val="EEF0FF"/>
          </a:solidFill>
          <a:ln w="12700">
            <a:solidFill>
              <a:srgbClr val="3F46C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L1 热队列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频繁访问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优先保留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401568" y="1828800"/>
            <a:ext cx="1965960" cy="841248"/>
          </a:xfrm>
          <a:prstGeom prst="roundRect">
            <a:avLst>
              <a:gd name="adj" fmla="val 13043"/>
            </a:avLst>
          </a:prstGeom>
          <a:solidFill>
            <a:srgbClr val="ECFFF8"/>
          </a:solidFill>
          <a:ln w="12700">
            <a:solidFill>
              <a:srgbClr val="20A67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ACTIVE 活跃队列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refcnt &gt; 0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暂不可回收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089904" y="1828800"/>
            <a:ext cx="1965960" cy="841248"/>
          </a:xfrm>
          <a:prstGeom prst="roundRect">
            <a:avLst>
              <a:gd name="adj" fmla="val 13043"/>
            </a:avLst>
          </a:prstGeom>
          <a:solidFill>
            <a:srgbClr val="FFF6EA"/>
          </a:solidFill>
          <a:ln w="12700">
            <a:solidFill>
              <a:srgbClr val="F28C2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L2 冷队列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候选淘汰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从尾部检查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778240" y="1828800"/>
            <a:ext cx="1965960" cy="841248"/>
          </a:xfrm>
          <a:prstGeom prst="roundRect">
            <a:avLst>
              <a:gd name="adj" fmla="val 13043"/>
            </a:avLst>
          </a:prstGeom>
          <a:solidFill>
            <a:srgbClr val="FFEFEF"/>
          </a:solidFill>
          <a:ln w="12700">
            <a:solidFill>
              <a:srgbClr val="DD3B3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CLEANUP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异步清理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最终释放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68680" y="3749040"/>
            <a:ext cx="3794760" cy="987552"/>
          </a:xfrm>
          <a:prstGeom prst="rect">
            <a:avLst/>
          </a:prstGeom>
          <a:solidFill>
            <a:srgbClr val="F3F4FA"/>
          </a:solidFill>
          <a:ln>
            <a:solidFill>
              <a:srgbClr val="D8D9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A2D3E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enum lru_q_id {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2A2D3E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LRU_ENTRY_L1, LRU_ENTRY_L2,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2A2D3E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LRU_ENTRY_CLEANUP, LRU_ENTRY_ACTIVE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2A2D3E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};</a:t>
            </a:r>
            <a:endParaRPr lang="en-US" sz="1120" dirty="0"/>
          </a:p>
        </p:txBody>
      </p:sp>
      <p:sp>
        <p:nvSpPr>
          <p:cNvPr id="16" name="Text 13"/>
          <p:cNvSpPr/>
          <p:nvPr/>
        </p:nvSpPr>
        <p:spPr>
          <a:xfrm>
            <a:off x="5257800" y="3703320"/>
            <a:ext cx="1143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26338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核心判断：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5257800" y="4096512"/>
            <a:ext cx="55321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 条目有 open/lock/active ref 时不能直接释放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 后台线程按水位触发批量回收，避免请求路径同步淘汰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3. L1/L2 队列结合冷热与回收成本，降低误淘汰概率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bg/slid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96112" y="645566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May 18, 2026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4736592" y="646480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Zupeng Wang | HUST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9985248" y="63642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29184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分片与水位：让缓存管理适配高并发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347472" y="841248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 个 lane 独立管理队列；超过高水位后由后台线程异步释放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580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6338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LRU_N_Q_LANES = 17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" y="1874520"/>
            <a:ext cx="768096" cy="320040"/>
          </a:xfrm>
          <a:prstGeom prst="roundRect">
            <a:avLst>
              <a:gd name="adj" fmla="val 34286"/>
            </a:avLst>
          </a:prstGeom>
          <a:solidFill>
            <a:srgbClr val="F5F6FF"/>
          </a:solidFill>
          <a:ln w="12700">
            <a:solidFill>
              <a:srgbClr val="D5D7F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6338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Lane 1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31520" y="2331720"/>
            <a:ext cx="768096" cy="11704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ADCE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L1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L2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691640" y="1874520"/>
            <a:ext cx="768096" cy="320040"/>
          </a:xfrm>
          <a:prstGeom prst="roundRect">
            <a:avLst>
              <a:gd name="adj" fmla="val 34286"/>
            </a:avLst>
          </a:prstGeom>
          <a:solidFill>
            <a:srgbClr val="F5F6FF"/>
          </a:solidFill>
          <a:ln w="12700">
            <a:solidFill>
              <a:srgbClr val="D5D7F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6338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Lane 2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691640" y="2331720"/>
            <a:ext cx="768096" cy="11704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ADCE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L1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L2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2651760" y="1874520"/>
            <a:ext cx="768096" cy="320040"/>
          </a:xfrm>
          <a:prstGeom prst="roundRect">
            <a:avLst>
              <a:gd name="adj" fmla="val 34286"/>
            </a:avLst>
          </a:prstGeom>
          <a:solidFill>
            <a:srgbClr val="F5F6FF"/>
          </a:solidFill>
          <a:ln w="12700">
            <a:solidFill>
              <a:srgbClr val="D5D7F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6338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Lane 3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651760" y="2331720"/>
            <a:ext cx="768096" cy="11704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ADCE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L1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L2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611880" y="1874520"/>
            <a:ext cx="768096" cy="320040"/>
          </a:xfrm>
          <a:prstGeom prst="roundRect">
            <a:avLst>
              <a:gd name="adj" fmla="val 34286"/>
            </a:avLst>
          </a:prstGeom>
          <a:solidFill>
            <a:srgbClr val="F5F6FF"/>
          </a:solidFill>
          <a:ln w="12700">
            <a:solidFill>
              <a:srgbClr val="D5D7F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6338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Lane 4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611880" y="2331720"/>
            <a:ext cx="768096" cy="11704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ADCE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L1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L2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0" y="1874520"/>
            <a:ext cx="768096" cy="320040"/>
          </a:xfrm>
          <a:prstGeom prst="roundRect">
            <a:avLst>
              <a:gd name="adj" fmla="val 34286"/>
            </a:avLst>
          </a:prstGeom>
          <a:solidFill>
            <a:srgbClr val="F5F6FF"/>
          </a:solidFill>
          <a:ln w="12700">
            <a:solidFill>
              <a:srgbClr val="D5D7F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6338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Lane 5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572000" y="2331720"/>
            <a:ext cx="768096" cy="11704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ADCE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L1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L2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440680" y="2697480"/>
            <a:ext cx="1645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… 共 17 个质数 lane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949440" y="2834640"/>
            <a:ext cx="640080" cy="0"/>
          </a:xfrm>
          <a:prstGeom prst="line">
            <a:avLst/>
          </a:prstGeom>
          <a:noFill/>
          <a:ln w="25400">
            <a:solidFill>
              <a:srgbClr val="7E82D7"/>
            </a:solidFill>
            <a:prstDash val="solid"/>
            <a:headEnd type="none"/>
            <a:tailEnd type="triangle"/>
          </a:ln>
        </p:spPr>
      </p:sp>
      <p:sp>
        <p:nvSpPr>
          <p:cNvPr id="21" name="Text 18"/>
          <p:cNvSpPr/>
          <p:nvPr/>
        </p:nvSpPr>
        <p:spPr>
          <a:xfrm>
            <a:off x="7635240" y="2286000"/>
            <a:ext cx="1783080" cy="822960"/>
          </a:xfrm>
          <a:prstGeom prst="roundRect">
            <a:avLst>
              <a:gd name="adj" fmla="val 13333"/>
            </a:avLst>
          </a:prstGeom>
          <a:solidFill>
            <a:srgbClr val="EEF0FF"/>
          </a:solidFill>
          <a:ln w="12700">
            <a:solidFill>
              <a:srgbClr val="3F46C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6338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fd_lru_run()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26338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后台清理线程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9464040" y="2834640"/>
            <a:ext cx="594360" cy="0"/>
          </a:xfrm>
          <a:prstGeom prst="line">
            <a:avLst/>
          </a:prstGeom>
          <a:noFill/>
          <a:ln w="25400">
            <a:solidFill>
              <a:srgbClr val="7E82D7"/>
            </a:solidFill>
            <a:prstDash val="solid"/>
            <a:headEnd type="none"/>
            <a:tailEnd type="triangle"/>
          </a:ln>
        </p:spPr>
      </p:sp>
      <p:sp>
        <p:nvSpPr>
          <p:cNvPr id="23" name="Text 20"/>
          <p:cNvSpPr/>
          <p:nvPr/>
        </p:nvSpPr>
        <p:spPr>
          <a:xfrm>
            <a:off x="10104120" y="2286000"/>
            <a:ext cx="1463040" cy="822960"/>
          </a:xfrm>
          <a:prstGeom prst="roundRect">
            <a:avLst>
              <a:gd name="adj" fmla="val 13333"/>
            </a:avLst>
          </a:prstGeom>
          <a:solidFill>
            <a:srgbClr val="FFF6EA"/>
          </a:solidFill>
          <a:ln w="12700">
            <a:solidFill>
              <a:srgbClr val="F5CF9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A4B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release_entries()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8A4B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按需释放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777240" y="4389120"/>
            <a:ext cx="1463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水位控制逻辑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2423160" y="4709160"/>
            <a:ext cx="6492240" cy="0"/>
          </a:xfrm>
          <a:prstGeom prst="line">
            <a:avLst/>
          </a:prstGeom>
          <a:noFill/>
          <a:ln w="76200">
            <a:solidFill>
              <a:srgbClr val="CBD0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423160" y="4709160"/>
            <a:ext cx="4206240" cy="0"/>
          </a:xfrm>
          <a:prstGeom prst="line">
            <a:avLst/>
          </a:prstGeom>
          <a:noFill/>
          <a:ln w="76200">
            <a:solidFill>
              <a:srgbClr val="3F46C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331720" y="4919472"/>
            <a:ext cx="7315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lowat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400800" y="4919472"/>
            <a:ext cx="7315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hiwat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914400" y="5321808"/>
            <a:ext cx="98755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entries_used / chunks_used &gt; 高水位 → 计算 want_release → 每个 lane 分摊回收任务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bg/slid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96112" y="645566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May 18, 2026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4736592" y="646480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Zupeng Wang | HUST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9985248" y="63642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29184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命中率统计：在缓存路径上记录 hit / miss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347472" y="841248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动态指标在 mdcache_handle.c 与 mdcache_helpers.c 的关键分支上递增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68680" y="1600200"/>
            <a:ext cx="23317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7E8F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mdcache_handle.c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alloc/check handle</a:t>
            </a:r>
            <a:endParaRPr lang="en-US" sz="1320" dirty="0"/>
          </a:p>
        </p:txBody>
      </p:sp>
      <p:sp>
        <p:nvSpPr>
          <p:cNvPr id="9" name="Text 6"/>
          <p:cNvSpPr/>
          <p:nvPr/>
        </p:nvSpPr>
        <p:spPr>
          <a:xfrm>
            <a:off x="868680" y="2743200"/>
            <a:ext cx="23317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7E8F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mdcache_helpers.c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mdc_lookup()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3337560" y="1965960"/>
            <a:ext cx="1234440" cy="0"/>
          </a:xfrm>
          <a:prstGeom prst="line">
            <a:avLst/>
          </a:prstGeom>
          <a:noFill/>
          <a:ln w="25400">
            <a:solidFill>
              <a:srgbClr val="7E82D7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337560" y="3099816"/>
            <a:ext cx="1234440" cy="0"/>
          </a:xfrm>
          <a:prstGeom prst="line">
            <a:avLst/>
          </a:prstGeom>
          <a:noFill/>
          <a:ln w="25400">
            <a:solidFill>
              <a:srgbClr val="7E82D7"/>
            </a:solidFill>
            <a:prstDash val="solid"/>
            <a:headEnd type="none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4645152" y="1627632"/>
            <a:ext cx="2331720" cy="658368"/>
          </a:xfrm>
          <a:prstGeom prst="roundRect">
            <a:avLst>
              <a:gd name="adj" fmla="val 16667"/>
            </a:avLst>
          </a:prstGeom>
          <a:solidFill>
            <a:srgbClr val="ECFFF8"/>
          </a:solidFill>
          <a:ln w="12700">
            <a:solidFill>
              <a:srgbClr val="A5E7D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6B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dynamic_metrics__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36B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mdcache_cache_hit()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645152" y="2761488"/>
            <a:ext cx="2331720" cy="658368"/>
          </a:xfrm>
          <a:prstGeom prst="roundRect">
            <a:avLst>
              <a:gd name="adj" fmla="val 16667"/>
            </a:avLst>
          </a:prstGeom>
          <a:solidFill>
            <a:srgbClr val="FFF6EA"/>
          </a:solidFill>
          <a:ln w="12700">
            <a:solidFill>
              <a:srgbClr val="F5CF9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4B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dynamic_metrics__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8A4B0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mdcache_cache_miss()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059168" y="2532888"/>
            <a:ext cx="914400" cy="0"/>
          </a:xfrm>
          <a:prstGeom prst="line">
            <a:avLst/>
          </a:prstGeom>
          <a:noFill/>
          <a:ln w="25400">
            <a:solidFill>
              <a:srgbClr val="7E82D7"/>
            </a:solidFill>
            <a:prstDash val="solid"/>
            <a:headEnd type="none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8046720" y="2084832"/>
            <a:ext cx="2606040" cy="896112"/>
          </a:xfrm>
          <a:prstGeom prst="roundRect">
            <a:avLst>
              <a:gd name="adj" fmla="val 12245"/>
            </a:avLst>
          </a:prstGeom>
          <a:solidFill>
            <a:srgbClr val="F5F6FF"/>
          </a:solidFill>
          <a:ln w="12700">
            <a:solidFill>
              <a:srgbClr val="D5D7F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338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Prometheus Counter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60120" y="4224528"/>
            <a:ext cx="9985248" cy="822960"/>
          </a:xfrm>
          <a:prstGeom prst="rect">
            <a:avLst/>
          </a:prstGeom>
          <a:solidFill>
            <a:srgbClr val="F3F4FA"/>
          </a:solidFill>
          <a:ln>
            <a:solidFill>
              <a:srgbClr val="D8D9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A2D3E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mdcache_cache_hits_total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A2D3E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mdcache_cache_misses_total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A2D3E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mdcache_cache_hits_by_export_total{export_id="X"}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A2D3E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mdcache_cache_misses_by_export_total{export_id="X"}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51560" y="5303520"/>
            <a:ext cx="9692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统计维度：operation + export_id；因此既能看全局命中率，也能定位到某个导出路径的缓存效果。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bg/slid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96112" y="645566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May 18, 2026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4736592" y="646480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Zupeng Wang | HUST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9985248" y="63642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29184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实时命中率：用增量速率而不是累计值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347472" y="841248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实时观测建议使用 Prometheus rate()，避免累计 Counter 掩盖短期波动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097280" y="1417320"/>
            <a:ext cx="4114800" cy="566928"/>
          </a:xfrm>
          <a:prstGeom prst="roundRect">
            <a:avLst>
              <a:gd name="adj" fmla="val 19355"/>
            </a:avLst>
          </a:prstGeom>
          <a:solidFill>
            <a:srgbClr val="EEF0FF"/>
          </a:solidFill>
          <a:ln w="12700">
            <a:solidFill>
              <a:srgbClr val="3F46C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338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命中率 = hits / (hits + misses)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2331720"/>
            <a:ext cx="4892040" cy="1417320"/>
          </a:xfrm>
          <a:prstGeom prst="rect">
            <a:avLst/>
          </a:prstGeom>
          <a:solidFill>
            <a:srgbClr val="F3F4FA"/>
          </a:solidFill>
          <a:ln>
            <a:solidFill>
              <a:srgbClr val="D8D9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A2D3E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# 全局 5 分钟实时命中率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2A2D3E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rate(mdcache_cache_hits_total[5m]) /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2A2D3E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( rate(mdcache_cache_hits_total[5m])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2A2D3E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+ rate(mdcache_cache_misses_total[5m]) )</a:t>
            </a:r>
            <a:endParaRPr lang="en-US" sz="1160" dirty="0"/>
          </a:p>
        </p:txBody>
      </p:sp>
      <p:sp>
        <p:nvSpPr>
          <p:cNvPr id="10" name="Text 7"/>
          <p:cNvSpPr/>
          <p:nvPr/>
        </p:nvSpPr>
        <p:spPr>
          <a:xfrm>
            <a:off x="6309360" y="2331720"/>
            <a:ext cx="4892040" cy="1417320"/>
          </a:xfrm>
          <a:prstGeom prst="rect">
            <a:avLst/>
          </a:prstGeom>
          <a:solidFill>
            <a:srgbClr val="F3F4FA"/>
          </a:solidFill>
          <a:ln>
            <a:solidFill>
              <a:srgbClr val="D8D9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2A2D3E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# 按 export_id 分组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2A2D3E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rate(mdcache_cache_hits_by_export_total[5m]) /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2A2D3E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( rate(mdcache_cache_hits_by_export_total[5m])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2A2D3E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+ rate(mdcache_cache_misses_by_export_total[5m]) )</a:t>
            </a:r>
            <a:endParaRPr lang="en-US" sz="1160" dirty="0"/>
          </a:p>
        </p:txBody>
      </p:sp>
      <p:sp>
        <p:nvSpPr>
          <p:cNvPr id="11" name="Text 8"/>
          <p:cNvSpPr/>
          <p:nvPr/>
        </p:nvSpPr>
        <p:spPr>
          <a:xfrm>
            <a:off x="960120" y="4370832"/>
            <a:ext cx="20574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DC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hits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命中计数器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611880" y="4370832"/>
            <a:ext cx="20574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DC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misses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未命中计数器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263640" y="4370832"/>
            <a:ext cx="20574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DC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operation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lookup/getattr 等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915400" y="4370832"/>
            <a:ext cx="20574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ADC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export_id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导出维度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960120" y="5394960"/>
            <a:ext cx="100584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70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实践建议：仪表盘同时展示全局命中率、按 export 分组命中率、命中/未命中 QPS，便于区分“缓存效率下降”和“请求量变化”。</a:t>
            </a:r>
            <a:endParaRPr lang="en-US" sz="14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bg/slid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96112" y="645566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May 18, 2026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4736592" y="646480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Zupeng Wang | HUST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9985248" y="63642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29184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关键数据结构：索引、队列与统计三条主线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347472" y="841248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源码中最值得抓住的结构：mdcache_key、mdcache_lru_t、mdcache_stats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1371600"/>
            <a:ext cx="3474720" cy="1298448"/>
          </a:xfrm>
          <a:prstGeom prst="rect">
            <a:avLst/>
          </a:prstGeom>
          <a:solidFill>
            <a:srgbClr val="F3F4FA"/>
          </a:solidFill>
          <a:ln>
            <a:solidFill>
              <a:srgbClr val="D8D9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2A2D3E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typedef struct mdcache_key {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2A2D3E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uint64_t hk;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2A2D3E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void *fsal;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2A2D3E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struct gsh_buffdesc kv;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2A2D3E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} mdcache_key_t;</a:t>
            </a:r>
            <a:endParaRPr lang="en-US" sz="1040" dirty="0"/>
          </a:p>
        </p:txBody>
      </p:sp>
      <p:sp>
        <p:nvSpPr>
          <p:cNvPr id="9" name="Text 6"/>
          <p:cNvSpPr/>
          <p:nvPr/>
        </p:nvSpPr>
        <p:spPr>
          <a:xfrm>
            <a:off x="4343400" y="1371600"/>
            <a:ext cx="3474720" cy="1600200"/>
          </a:xfrm>
          <a:prstGeom prst="rect">
            <a:avLst/>
          </a:prstGeom>
          <a:solidFill>
            <a:srgbClr val="F3F4FA"/>
          </a:solidFill>
          <a:ln>
            <a:solidFill>
              <a:srgbClr val="D8D9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A2D3E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typedef struct mdcache_lru__ {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2A2D3E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struct glist_head q;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2A2D3E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enum lru_q_id qid;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2A2D3E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int32_t refcnt;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2A2D3E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int32_t active_refcnt;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2A2D3E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uint32_t lane;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2A2D3E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} mdcache_lru_t;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7936992" y="1371600"/>
            <a:ext cx="3456432" cy="1298448"/>
          </a:xfrm>
          <a:prstGeom prst="rect">
            <a:avLst/>
          </a:prstGeom>
          <a:solidFill>
            <a:srgbClr val="F3F4FA"/>
          </a:solidFill>
          <a:ln>
            <a:solidFill>
              <a:srgbClr val="D8D9EA"/>
            </a:solidFill>
          </a:ln>
        </p:spPr>
        <p:txBody>
          <a:bodyPr wrap="square" lIns="1651" tIns="1651" rIns="1651" bIns="1651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2A2D3E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struct mdcache_stats {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2A2D3E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uint64_t inode_req;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2A2D3E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uint64_t inode_hit;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2A2D3E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uint64_t inode_miss;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2A2D3E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uint64_t inode_conf;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2A2D3E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};</a:t>
            </a:r>
            <a:endParaRPr lang="en-US" sz="1040" dirty="0"/>
          </a:p>
        </p:txBody>
      </p:sp>
      <p:sp>
        <p:nvSpPr>
          <p:cNvPr id="11" name="Text 8"/>
          <p:cNvSpPr/>
          <p:nvPr/>
        </p:nvSpPr>
        <p:spPr>
          <a:xfrm>
            <a:off x="896112" y="3328416"/>
            <a:ext cx="315468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DADC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索引键：决定是否同一缓存对象</a:t>
            </a:r>
            <a:endParaRPr lang="en-US" sz="1330" dirty="0"/>
          </a:p>
        </p:txBody>
      </p:sp>
      <p:sp>
        <p:nvSpPr>
          <p:cNvPr id="12" name="Text 9"/>
          <p:cNvSpPr/>
          <p:nvPr/>
        </p:nvSpPr>
        <p:spPr>
          <a:xfrm>
            <a:off x="4507992" y="3328416"/>
            <a:ext cx="315468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DADC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生命周期：队列归属、引用计数、lane</a:t>
            </a:r>
            <a:endParaRPr lang="en-US" sz="1330" dirty="0"/>
          </a:p>
        </p:txBody>
      </p:sp>
      <p:sp>
        <p:nvSpPr>
          <p:cNvPr id="13" name="Text 10"/>
          <p:cNvSpPr/>
          <p:nvPr/>
        </p:nvSpPr>
        <p:spPr>
          <a:xfrm>
            <a:off x="8101584" y="3328416"/>
            <a:ext cx="3127248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DADCE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观测面：请求、命中、未命中、冲突</a:t>
            </a:r>
            <a:endParaRPr lang="en-US" sz="1330" dirty="0"/>
          </a:p>
        </p:txBody>
      </p:sp>
      <p:sp>
        <p:nvSpPr>
          <p:cNvPr id="14" name="Text 11"/>
          <p:cNvSpPr/>
          <p:nvPr/>
        </p:nvSpPr>
        <p:spPr>
          <a:xfrm>
            <a:off x="822960" y="4681728"/>
            <a:ext cx="1645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26338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源码路径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606040" y="4645152"/>
            <a:ext cx="8138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2630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mdcache_helpers.c 的 lookup 分支 → mdcache_hash.c 的 cih_lookup → mdcache_lru.c 的 ref/unref/release → dynamic_metrics.cc 的 Counter 注册。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bg/slide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38160" y="4572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6338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Q&amp;A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8138160" y="508406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1A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Thanks！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297680" y="64739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Zupeng Wang | HUST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9985248" y="63642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D72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1207</Words>
  <Application>Microsoft Macintosh PowerPoint</Application>
  <PresentationFormat>Widescreen</PresentationFormat>
  <Paragraphs>256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Noto Sans CJK SC</vt:lpstr>
      <vt:lpstr>Noto Sans Mono CJK SC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NFS-Ganesha 源码架构与缓存系统分析</dc:title>
  <dc:subject>NFS-Ganesha architecture and cache analysis</dc:subject>
  <dc:creator>Wang Zupeng</dc:creator>
  <cp:lastModifiedBy>祖鹏 王</cp:lastModifiedBy>
  <cp:revision>4</cp:revision>
  <dcterms:created xsi:type="dcterms:W3CDTF">2026-05-18T04:47:15Z</dcterms:created>
  <dcterms:modified xsi:type="dcterms:W3CDTF">2026-05-18T04:53:13Z</dcterms:modified>
</cp:coreProperties>
</file>