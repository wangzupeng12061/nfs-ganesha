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a0425f2eb044a5" /><Relationship Type="http://schemas.openxmlformats.org/officeDocument/2006/relationships/extended-properties" Target="/docProps/app.xml" Id="Reaf0720b86174277" /><Relationship Type="http://schemas.openxmlformats.org/officeDocument/2006/relationships/officeDocument" Target="/ppt/presentation.xml" Id="R1fbae0b69e27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4944134434a7a"/>
  </p:sldMasterIdLst>
  <p:notesMasterIdLst>
    <p:notesMasterId xmlns:r="http://schemas.openxmlformats.org/officeDocument/2006/relationships" r:id="Rc05a07ea9c5c446c"/>
  </p:notesMasterIdLst>
  <p:sldIdLst>
    <p:sldId xmlns:r="http://schemas.openxmlformats.org/officeDocument/2006/relationships" id="256" r:id="R24cd71f450594077"/>
    <p:sldId xmlns:r="http://schemas.openxmlformats.org/officeDocument/2006/relationships" id="257" r:id="R8cdffd5a3dfd4052"/>
    <p:sldId xmlns:r="http://schemas.openxmlformats.org/officeDocument/2006/relationships" id="258" r:id="R897abc2daedb44ec"/>
    <p:sldId xmlns:r="http://schemas.openxmlformats.org/officeDocument/2006/relationships" id="259" r:id="R4452464932e4467a"/>
    <p:sldId xmlns:r="http://schemas.openxmlformats.org/officeDocument/2006/relationships" id="260" r:id="Rab59aa965f304eb8"/>
    <p:sldId xmlns:r="http://schemas.openxmlformats.org/officeDocument/2006/relationships" id="261" r:id="Ra0d5da065e8a482a"/>
    <p:sldId xmlns:r="http://schemas.openxmlformats.org/officeDocument/2006/relationships" id="262" r:id="R48dea846840c4b8a"/>
    <p:sldId xmlns:r="http://schemas.openxmlformats.org/officeDocument/2006/relationships" id="263" r:id="Rbf4a69033cd74b49"/>
    <p:sldId xmlns:r="http://schemas.openxmlformats.org/officeDocument/2006/relationships" id="264" r:id="R3da47c6a68c147fd"/>
    <p:sldId xmlns:r="http://schemas.openxmlformats.org/officeDocument/2006/relationships" id="265" r:id="Rf6c2246ab15c45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4944134434a7a" /><Relationship Type="http://schemas.openxmlformats.org/officeDocument/2006/relationships/theme" Target="/ppt/theme/theme1.xml" Id="Ree972329488d4c63" /><Relationship Type="http://schemas.openxmlformats.org/officeDocument/2006/relationships/notesMaster" Target="/ppt/notesMasters/notesMaster1.xml" Id="Rc05a07ea9c5c446c" /><Relationship Type="http://schemas.openxmlformats.org/officeDocument/2006/relationships/presProps" Target="/ppt/presProps.xml" Id="R22784f4d05794909" /><Relationship Type="http://schemas.openxmlformats.org/officeDocument/2006/relationships/viewProps" Target="/ppt/viewProps.xml" Id="R051e88d2d03b4298" /><Relationship Type="http://schemas.openxmlformats.org/officeDocument/2006/relationships/tableStyles" Target="/ppt/tableStyles.xml" Id="R7ad662ec8cc141ab" /><Relationship Type="http://schemas.openxmlformats.org/officeDocument/2006/relationships/slide" Target="/ppt/slides/slide1.xml" Id="R24cd71f450594077" /><Relationship Type="http://schemas.openxmlformats.org/officeDocument/2006/relationships/slide" Target="/ppt/slides/slide2.xml" Id="R8cdffd5a3dfd4052" /><Relationship Type="http://schemas.openxmlformats.org/officeDocument/2006/relationships/slide" Target="/ppt/slides/slide3.xml" Id="R897abc2daedb44ec" /><Relationship Type="http://schemas.openxmlformats.org/officeDocument/2006/relationships/slide" Target="/ppt/slides/slide4.xml" Id="R4452464932e4467a" /><Relationship Type="http://schemas.openxmlformats.org/officeDocument/2006/relationships/slide" Target="/ppt/slides/slide5.xml" Id="Rab59aa965f304eb8" /><Relationship Type="http://schemas.openxmlformats.org/officeDocument/2006/relationships/slide" Target="/ppt/slides/slide6.xml" Id="Ra0d5da065e8a482a" /><Relationship Type="http://schemas.openxmlformats.org/officeDocument/2006/relationships/slide" Target="/ppt/slides/slide7.xml" Id="R48dea846840c4b8a" /><Relationship Type="http://schemas.openxmlformats.org/officeDocument/2006/relationships/slide" Target="/ppt/slides/slide8.xml" Id="Rbf4a69033cd74b49" /><Relationship Type="http://schemas.openxmlformats.org/officeDocument/2006/relationships/slide" Target="/ppt/slides/slide9.xml" Id="R3da47c6a68c147fd" /><Relationship Type="http://schemas.openxmlformats.org/officeDocument/2006/relationships/slide" Target="/ppt/slides/slide10.xml" Id="Rf6c2246ab15c45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2887706f804c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ef31413ae845a4" /><Relationship Type="http://schemas.openxmlformats.org/officeDocument/2006/relationships/notesMaster" Target="/ppt/notesMasters/notesMaster1.xml" Id="Rd811f3d9bb5a4a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0d3caba9a4474f" /><Relationship Type="http://schemas.openxmlformats.org/officeDocument/2006/relationships/notesMaster" Target="/ppt/notesMasters/notesMaster1.xml" Id="Re0a6114efce84e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cf7e04aae348ea" /><Relationship Type="http://schemas.openxmlformats.org/officeDocument/2006/relationships/notesMaster" Target="/ppt/notesMasters/notesMaster1.xml" Id="R158b5af8dce84b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d13b85932d4893" /><Relationship Type="http://schemas.openxmlformats.org/officeDocument/2006/relationships/notesMaster" Target="/ppt/notesMasters/notesMaster1.xml" Id="R38a3d015567841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9bcfe8b35e4a9b" /><Relationship Type="http://schemas.openxmlformats.org/officeDocument/2006/relationships/notesMaster" Target="/ppt/notesMasters/notesMaster1.xml" Id="R54bc0131ce09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800d5fe1645e1" /><Relationship Type="http://schemas.openxmlformats.org/officeDocument/2006/relationships/notesMaster" Target="/ppt/notesMasters/notesMaster1.xml" Id="Reda3c917f6eb47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d5bc7b36ac4a65" /><Relationship Type="http://schemas.openxmlformats.org/officeDocument/2006/relationships/notesMaster" Target="/ppt/notesMasters/notesMaster1.xml" Id="R2835dbab5ba549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0fca68351c4c11" /><Relationship Type="http://schemas.openxmlformats.org/officeDocument/2006/relationships/notesMaster" Target="/ppt/notesMasters/notesMaster1.xml" Id="Rc5e21ec6f16641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5aa099d840481b" /><Relationship Type="http://schemas.openxmlformats.org/officeDocument/2006/relationships/notesMaster" Target="/ppt/notesMasters/notesMaster1.xml" Id="R8c3f44dd445745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93508b91bc4b91" /><Relationship Type="http://schemas.openxmlformats.org/officeDocument/2006/relationships/notesMaster" Target="/ppt/notesMasters/notesMaster1.xml" Id="R93f76cb1be0a4c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41b320006436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78e7afbccdf41d7" /><Relationship Type="http://schemas.openxmlformats.org/officeDocument/2006/relationships/slideLayout" Target="/ppt/slideLayouts/slideLayout2.xml" Id="R4d43b20fadac4d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3b20fadac4d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6b6ad48d34e2b" /><Relationship Type="http://schemas.openxmlformats.org/officeDocument/2006/relationships/image" Target="/ppt/media/image.png" Id="R7a4ec425ae45487f" /><Relationship Type="http://schemas.openxmlformats.org/officeDocument/2006/relationships/image" Target="/ppt/media/image2.png" Id="Rb4361fd82bc84b3b" /><Relationship Type="http://schemas.openxmlformats.org/officeDocument/2006/relationships/notesSlide" Target="/ppt/notesSlides/notesSlide1.xml" Id="R2a353a4991ee48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d590ec62974ae4" /><Relationship Type="http://schemas.openxmlformats.org/officeDocument/2006/relationships/image" Target="/ppt/media/image.jpeg" Id="R78a0b201d1e7484d" /><Relationship Type="http://schemas.openxmlformats.org/officeDocument/2006/relationships/image" Target="/ppt/media/image3.png" Id="Rb67c4471f11c480e" /><Relationship Type="http://schemas.openxmlformats.org/officeDocument/2006/relationships/notesSlide" Target="/ppt/notesSlides/notesSlide2.xml" Id="R3c77c5beb8ee46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aeade2f4ef4a9e" /><Relationship Type="http://schemas.openxmlformats.org/officeDocument/2006/relationships/image" Target="/ppt/media/image2.jpeg" Id="Rda433ac88b6e446f" /><Relationship Type="http://schemas.openxmlformats.org/officeDocument/2006/relationships/image" Target="/ppt/media/image4.png" Id="Ra34707674c894fc1" /><Relationship Type="http://schemas.openxmlformats.org/officeDocument/2006/relationships/notesSlide" Target="/ppt/notesSlides/notesSlide3.xml" Id="R3d1567ea0d6444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ce835e95548c2" /><Relationship Type="http://schemas.openxmlformats.org/officeDocument/2006/relationships/image" Target="/ppt/media/image3.jpeg" Id="Rbe660d7fb3aa496d" /><Relationship Type="http://schemas.openxmlformats.org/officeDocument/2006/relationships/image" Target="/ppt/media/image5.png" Id="R0e167c1838654e14" /><Relationship Type="http://schemas.openxmlformats.org/officeDocument/2006/relationships/notesSlide" Target="/ppt/notesSlides/notesSlide4.xml" Id="R4c25f7d920c644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14021e0a604e5f" /><Relationship Type="http://schemas.openxmlformats.org/officeDocument/2006/relationships/image" Target="/ppt/media/image4.jpeg" Id="Rc55d05b61b2643e6" /><Relationship Type="http://schemas.openxmlformats.org/officeDocument/2006/relationships/image" Target="/ppt/media/image6.png" Id="R452ae85f824f484f" /><Relationship Type="http://schemas.openxmlformats.org/officeDocument/2006/relationships/notesSlide" Target="/ppt/notesSlides/notesSlide5.xml" Id="R046207af86bc45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b0945bbf724413" /><Relationship Type="http://schemas.openxmlformats.org/officeDocument/2006/relationships/image" Target="/ppt/media/image5.jpeg" Id="Rbbff3172a70c4617" /><Relationship Type="http://schemas.openxmlformats.org/officeDocument/2006/relationships/image" Target="/ppt/media/image7.png" Id="Rde46cdaed56648e1" /><Relationship Type="http://schemas.openxmlformats.org/officeDocument/2006/relationships/notesSlide" Target="/ppt/notesSlides/notesSlide6.xml" Id="Rce8bd9fdfd1841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4fec4f73744dc9" /><Relationship Type="http://schemas.openxmlformats.org/officeDocument/2006/relationships/image" Target="/ppt/media/image6.jpeg" Id="R15b3c75f478a41da" /><Relationship Type="http://schemas.openxmlformats.org/officeDocument/2006/relationships/image" Target="/ppt/media/image8.png" Id="Rb367a329257c44f2" /><Relationship Type="http://schemas.openxmlformats.org/officeDocument/2006/relationships/notesSlide" Target="/ppt/notesSlides/notesSlide7.xml" Id="R5bb6d2bc6c0842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fdb19bd6304a43" /><Relationship Type="http://schemas.openxmlformats.org/officeDocument/2006/relationships/image" Target="/ppt/media/image7.jpeg" Id="R14846fd4341c4a0b" /><Relationship Type="http://schemas.openxmlformats.org/officeDocument/2006/relationships/image" Target="/ppt/media/image9.png" Id="R998fe00033b94ade" /><Relationship Type="http://schemas.openxmlformats.org/officeDocument/2006/relationships/notesSlide" Target="/ppt/notesSlides/notesSlide8.xml" Id="R5e811a4987f341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325dd8af94019" /><Relationship Type="http://schemas.openxmlformats.org/officeDocument/2006/relationships/image" Target="/ppt/media/image8.jpeg" Id="Rce97b7083ce7427b" /><Relationship Type="http://schemas.openxmlformats.org/officeDocument/2006/relationships/image" Target="/ppt/media/image10.png" Id="R6b93f41b580d4d04" /><Relationship Type="http://schemas.openxmlformats.org/officeDocument/2006/relationships/notesSlide" Target="/ppt/notesSlides/notesSlide9.xml" Id="R4406a909c2eb43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366d528d6a4190" /><Relationship Type="http://schemas.openxmlformats.org/officeDocument/2006/relationships/image" Target="/ppt/media/image9.jpeg" Id="Ra6aa37c3c7384068" /><Relationship Type="http://schemas.openxmlformats.org/officeDocument/2006/relationships/image" Target="/ppt/media/image11.png" Id="R29b69e1cf9644f5c" /><Relationship Type="http://schemas.openxmlformats.org/officeDocument/2006/relationships/notesSlide" Target="/ppt/notesSlides/notesSlide10.xml" Id="Rbd11521b0c254d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834499-2F71-475A-AB18-298DE33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ec425ae45487f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61fd82bc84b3b"/>
          <a:stretch xmlns:a="http://schemas.openxmlformats.org/drawingml/2006/main"/>
        </p:blipFill>
        <p:spPr>
          <a:xfrm xmlns:a="http://schemas.openxmlformats.org/drawingml/2006/main">
            <a:off x="590550" y="609600"/>
            <a:ext cx="2333625" cy="2333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D1D84-369B-4BD0-B380-8CB5D119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764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NFS-Ganesha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57BE1-A97B-4DAE-8998-19B4CEC8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19350"/>
            <a:ext cx="552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缓存架构与命中率机制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2D823-90CF-4002-A190-23667752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B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70"/>
                </a:solidFill>
                <a:latin typeface="Arial"/>
                <a:ea typeface="Arial"/>
                <a:cs typeface="Arial"/>
              </a:rPr>
              <a:t>源码架构详细梳理 | MDCACHE / LRU /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ABC6A-B6B8-40E4-A464-6526BFAF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503FA-C223-44C3-803C-AD0D3907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1015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汇报人：王祖鹏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C16E1-FC13-4CA3-8331-00276DD1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24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2026-05-18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2D9FA-73D1-443B-8FDB-E6FBD54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B848B-09EC-4660-AF9D-003C682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89E99-5C81-4F01-A109-C1EB0B5F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F1608-2A39-4F55-B3A4-2E75C70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CF576-B031-400D-A5CF-C2FA9E32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48299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0ED35-988C-489D-B065-C61CC8A5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0D939-04C3-4FA6-9392-380CDE15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核心结论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BFAE6-40CD-4479-8DA2-9DF244FB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0b201d1e7484d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c4471f11c480e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7704B-5E51-4DA2-9DF7-E03E8B71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C0FB1-2E0B-4602-A2AF-0686DE66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884D4-C82B-4931-A3F7-EF966A8C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0025C-9543-4AA7-8B50-4D89AAD3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8A923-AF1C-4C38-9913-2AC62551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403D0-F44A-4515-BEFF-CD9B98F6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MDCACHE 是 FSAL 之上的透明元数据加速层，不是孤立模块。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57F42-B450-4AFB-8284-ABD638E8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362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11430">
            <a:solidFill>
              <a:srgbClr val="4A48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71FF4-6D67-4095-88D6-BBBC8FDF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10A78-A4CB-478A-8C7A-CF1A4E82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907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分层位置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C7CA5-AFC2-4D7F-9F60-94D6492E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E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EF0FF"/>
                </a:solidFill>
                <a:latin typeface="Microsoft YaHei"/>
                <a:ea typeface="Microsoft YaHei"/>
                <a:cs typeface="Microsoft YaHei"/>
              </a:rPr>
              <a:t>位于协议/SAL 与底层 FSAL 之间，透明服务 NFSv3/v4 请求。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BD2D6-5DF5-4BA6-A21B-A62DE36C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62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A9E0D-A9F3-4B0B-9BD9-5DFBDCA4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AD895-F094-437E-A23D-C1069F10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907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查询核心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2576C-217D-47D6-89DC-CDB3C412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67000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分区 RBTree 哈希表降低锁粒度，支持高并发元数据 lookup。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A2B61-75ED-4272-9079-16760760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362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BB36C-38FF-4259-9C6A-BECE5896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987B2-5ACB-4A45-9C14-94D0A7E6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淘汰核心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E32C0-8D61-459C-9520-F0F1E0A5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L1/L2/ACTIVE/CLEANUP 多级队列与 17 车道分片管理生命周期。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C3F4D-E92B-4546-A22C-BFECC7A7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362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18BE70-ADA7-4892-8B57-35385F82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526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97319-D7E8-466C-9D77-332C20A5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A956B-6DD6-4E2A-8538-EB565AD2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命中/未命中 counter 直接暴露给 Prometheus，支持按 export 分组。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6CD8E9-8851-4BD3-9639-84F7C67E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676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F"/>
          </a:solidFill>
          <a:ln xmlns:a="http://schemas.openxmlformats.org/drawingml/2006/main" w="11430">
            <a:solidFill>
              <a:srgbClr val="B5B7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B28FB-C1B2-4952-9B91-3374C876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645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一句话理解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A1733C-23D3-4A16-9235-ED572E17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6457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命中率不是一个单独公式，而是 lookup 路径、缓存生命周期和指标埋点共同产生的系统行为。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48BA28-54C7-43CD-B241-C4740D66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35C"/>
          </a:solidFill>
          <a:ln xmlns:a="http://schemas.openxmlformats.org/drawingml/2006/main" w="0">
            <a:solidFill>
              <a:srgbClr val="D553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EDBEC-0080-4FAC-8DED-6D29C97C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33850"/>
            <a:ext cx="28289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本 deck 只使用源码文档中出现的结构、函数和 counter；没有提供实测数据的地方不构造虚假趋势图。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977A28-B06D-4DA4-BB3A-E97B5E9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Source: NFS-GANESHA_ARCHITECTURE_ANALYSIS.md sections 1-4</a:t>
            </a:r>
          </a:p>
        </p:txBody>
      </p:sp>
    </p:spTree>
    <p:extLst>
      <p:ext uri="{BB962C8B-B14F-4D97-AF65-F5344CB8AC3E}">
        <p14:creationId xmlns:p14="http://schemas.microsoft.com/office/powerpoint/2010/main" val="12235895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6302E-DB19-474F-A9C1-46602A90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2ED62-91DB-4003-BC35-A21FCA66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分层架构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AC457-D04F-4B5E-92C9-659B9A5A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33ac88b6e446f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707674c894fc1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EC2F4-0553-41E9-9B47-449444B3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BFC78-943A-4D5D-BBC4-FFF10671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DB51E-CAC8-4B84-B0BB-A32336FD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AF570-A18D-4AA5-A0D0-36CD0957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5C860-DB55-4808-8ED6-BA7D4322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2001B-3E06-4348-8999-411BD54F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762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缓存路径横跨协议、状态、缓存和后端 FSAL 四层。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821C2-E139-4C2C-8F23-9EB54FA9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74BA2-4A09-4872-87D1-04EF7C2A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2880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Protocols / NFS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4651E-C2BC-4E9E-9447-3FB09BE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436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NFSv3/NFSv4 请求处理、RPC 分发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CE155-34D9-42D9-9C81-6B5D8079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2669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0180F-6516-4C8C-A51E-FAF2CEFE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34BEC-98CB-4EED-9B69-9B6FEDF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7175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286D4-9E50-4DE5-86E4-38ED5303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36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锁、委托、开启状态管理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80882-3A51-4B36-8A23-A4944197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0099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6BA9E-E4C9-427D-BA93-D0233267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11430">
            <a:solidFill>
              <a:srgbClr val="4A48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1EA48-FBB2-4AE5-AD0B-A3B16CC2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1470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FSAL_MDCACHE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4B5C0-273C-4DDC-9C32-F8129E7B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436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ECEEFF"/>
                </a:solidFill>
                <a:latin typeface="Microsoft YaHei"/>
                <a:ea typeface="Microsoft YaHei"/>
                <a:cs typeface="Microsoft YaHei"/>
              </a:rPr>
              <a:t>元数据缓存：hash + LRU + dirent + metrics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CFDE2-D7EC-4303-B18E-76FCCD15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7528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85BD9-58A1-404D-88C7-EC65CAC6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30C49-19F0-4138-BFF5-E72739A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FSAL Backends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49F74-6B62-47EA-AC94-77218EFB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436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VFS / Ceph / Gluster / GPFS / Proxy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A2BD6-7382-45B0-A1C7-555F43F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44958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8EA56-D96F-486E-A963-9A0BD9DC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8A6597-CF78-42FB-9A57-36C33F8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0060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MainNFSD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418D9-5096-4883-A084-CB2FF1AA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436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初始化、worker、admin、metrics 线程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FEB062-C917-490D-9C39-59675629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049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请求路径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BA37E1-727A-4574-8069-545207FF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66900"/>
            <a:ext cx="3524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F"/>
          </a:solidFill>
          <a:ln xmlns:a="http://schemas.openxmlformats.org/drawingml/2006/main" w="11430">
            <a:solidFill>
              <a:srgbClr val="B5B7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1A8213-88F6-44F3-B2BF-51CCB0AC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81200"/>
            <a:ext cx="3219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缓存层是中间层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77F8B2-16F3-46BD-B154-4F572FB4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247900"/>
            <a:ext cx="3219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MDCACHE 作为 stackable FSAL 覆盖在具体后端上方；协议层不需要知道底层后端差异。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FD176D-67B6-477B-96C9-224EB6E4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19450"/>
            <a:ext cx="3524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F"/>
          </a:solidFill>
          <a:ln xmlns:a="http://schemas.openxmlformats.org/drawingml/2006/main" w="11430">
            <a:solidFill>
              <a:srgbClr val="B5B7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32B419-BEF6-466E-AF58-3273EF6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333750"/>
            <a:ext cx="3219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文件组织对应架构边界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3CFB00-798C-4CEF-B83D-BB376D52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00450"/>
            <a:ext cx="321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MainNFSD/、Protocols/、SAL/、FSAL/、hashtable/、monitoring/ 分别承担服务、协议、状态、缓存、并发查找和指标输出。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63941B-8A2D-4E39-AD99-739DC4CE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57750"/>
            <a:ext cx="3676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E7C88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75486C-EC00-41C7-8CDC-B701F94F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19675"/>
            <a:ext cx="3257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7916"/>
                </a:solidFill>
                <a:latin typeface="Microsoft YaHei"/>
                <a:ea typeface="Microsoft YaHei"/>
                <a:cs typeface="Microsoft YaHei"/>
              </a:rPr>
              <a:t>重点阅读路径：FSAL_MDCACHE + hashtable + monitoring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001A3E-E89C-4B21-8CD8-2A8C016B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Source: architecture layer table and module tree in section 1</a:t>
            </a:r>
          </a:p>
        </p:txBody>
      </p:sp>
    </p:spTree>
    <p:extLst>
      <p:ext uri="{BB962C8B-B14F-4D97-AF65-F5344CB8AC3E}">
        <p14:creationId xmlns:p14="http://schemas.microsoft.com/office/powerpoint/2010/main" val="9195816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38BD1-FBC5-47D0-BAD1-FF6DC9B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314AC-9B3F-47B4-92BB-C0499B1B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MDCACHE 内部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DB975-B3D8-4C50-B9E9-F27134D2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60d7fb3aa496d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67c1838654e14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79291-84C9-419D-9465-77B1FDB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16C53-F39D-47FE-A4EA-BF72B363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15194-21C4-45A8-8667-04E1E957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108E0-24C9-4F67-86EC-B914BC4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64E5F-C8F9-48AB-BFB0-3A31473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4C444-E259-488F-97BD-DC07974D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MDCACHE 的能力来自哈希查询、LRU、目录映射、属性过期和指标的组合。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8E332-3073-4394-B57E-71157D54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33675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11430">
            <a:solidFill>
              <a:srgbClr val="4A48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7E163-6F24-4E50-9EEE-11B80AC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47975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FSAL_MDCACHE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7285E-7728-48AA-AAAC-C6E50FF3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14675"/>
            <a:ext cx="2647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EF0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EF0FF"/>
                </a:solidFill>
                <a:latin typeface="Aptos Mono"/>
                <a:ea typeface="Aptos Mono"/>
                <a:cs typeface="Aptos Mono"/>
              </a:rPr>
              <a:t>stackable metadata cache</a:t>
            </a:r>
          </a:p>
          <a:p xmlns:a="http://schemas.openxmlformats.org/drawingml/2006/main">
            <a:pPr algn="l">
              <a:defRPr sz="975" b="0">
                <a:solidFill>
                  <a:srgbClr val="EEF0F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EF0FF"/>
                </a:solidFill>
                <a:latin typeface="Aptos Mono"/>
                <a:ea typeface="Aptos Mono"/>
                <a:cs typeface="Aptos Mono"/>
              </a:rPr>
              <a:t>mdcache_main.c / helpers / handle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986E4-C569-433C-8B0C-C01E45BA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4D1D0-C4FC-472B-AC56-5EEC854B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66925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Hash lookup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95C10-B7EB-4949-BCC3-C1E8F1F4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336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mdcache_hash.c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partitioned RBTree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18A01-104B-4F75-AE20-337089F0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EE112-4A48-4F24-A9B3-9A8E2380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66925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LRU lifecycle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20F3D-2955-489F-9FFD-C9242BF9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mdcache_lru.c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L1 / L2 / ACTIVE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6B49E-8AD6-456C-843A-983D6EAB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B3F9F-C20B-48CB-A01B-B3927EE9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Dirent 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E0F243-720E-4D31-BC6D-2C1A8D6D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mdcache_avl.h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cookie -&gt; entry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3B77B-11AB-4D1F-A88E-DAEE21AF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E7539D-77CC-48C3-A971-D0E209DA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Attr expiry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80DE8-7881-4627-95F3-77E79D29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Attr_Expiration_Time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trust flag refresh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A337D-43DD-43DF-B030-856C383D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8"/>
          </a:solidFill>
          <a:ln xmlns:a="http://schemas.openxmlformats.org/drawingml/2006/main" w="11430">
            <a:solidFill>
              <a:srgbClr val="9BD9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25718A-7D79-4E2A-9DC3-F21C99ED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24425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rPr>
              <a:t>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BF480-16EE-4C7E-9A28-BD13D9BF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911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dynamic_metrics.cc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hits / misses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0C9EA3-FF4C-4FC0-A507-AE830258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47913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BEF1B-162B-4647-9D9A-54733058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3" y="2362200"/>
            <a:ext cx="285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8A06D4-D1A1-4DB0-A675-E8510EF1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524250"/>
            <a:ext cx="28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F6B968-6192-465B-8FD5-5075710D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5763" y="3524250"/>
            <a:ext cx="28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A82DB5-33E5-4B93-9FC5-235B70ED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857625"/>
            <a:ext cx="28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solidFill>
              <a:srgbClr val="1F9D7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70EF60-A755-4AE9-BDF5-55036D24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531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透明性：上层只看到 FSAL 对象句柄；缓存命中、失效与回收在 MDCACHE 层完成。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98038F-7DD6-497D-B716-386EB25C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Source: MDCache overview and core file list in section 2</a:t>
            </a:r>
          </a:p>
        </p:txBody>
      </p:sp>
    </p:spTree>
    <p:extLst>
      <p:ext uri="{BB962C8B-B14F-4D97-AF65-F5344CB8AC3E}">
        <p14:creationId xmlns:p14="http://schemas.microsoft.com/office/powerpoint/2010/main" val="15834814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2BACCB-0768-4486-8D3E-53C46D7A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B04F0-1EF6-40B2-9BD5-CDEFD8B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哈希查询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0C698-8B5B-4C06-A233-3E5BDAF5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d05b61b2643e6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ae85f824f484f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4C84B-FB9D-43A4-A8E5-247906AB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8F935-2367-4146-8AF3-4B32F385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A8132-6D67-41FA-8769-D691AA3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BE09C-E72C-41D2-9151-FCA4F420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F8818-C608-4A41-B96D-3E3F154D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7EA65-8A00-4C28-B2A9-4EB55D96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分区 RBTree 把全局哈希查询拆成可并发的局部树查找。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0A37D-D6D0-49CB-BA13-072950BE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F"/>
          </a:solidFill>
          <a:ln xmlns:a="http://schemas.openxmlformats.org/drawingml/2006/main" w="11430">
            <a:solidFill>
              <a:srgbClr val="B5B7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92C9D-C452-4B12-B4DD-F58B30C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mdcache_key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AB696-9924-4DA0-8267-0834FA59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hk + fsal + FSAL handle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先比 hash，再比长度/FSAL/内容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BE462-DE26-459A-886C-19B3F210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240EE-B884-4032-BC88-2A685FB5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FFA32-6651-4807-BAD5-9DDDB2E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14550"/>
            <a:ext cx="2028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hash_param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DA7BE-7E74-492A-8731-C5CC3FA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20288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hash_func_key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hash_func_rbt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compare_key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77EB1-C611-4267-A2FC-FCDFE0B5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1000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58903C-B214-4940-A2B2-3893746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9D69A-9344-4C09-BB61-7BC6C4D3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48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A48C6"/>
                </a:solidFill>
                <a:latin typeface="Aptos Mono"/>
                <a:ea typeface="Aptos Mono"/>
                <a:cs typeface="Aptos Mono"/>
              </a:rPr>
              <a:t>partition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6B616-69F2-4575-BA00-A696C250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pthread_rwlock_t + RBTree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89D25-3BCB-4095-B604-E13EE320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050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8586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1FFD9-D6AC-494F-8C76-DBC46227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621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586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86D8"/>
                </a:solidFill>
                <a:latin typeface="Arial"/>
                <a:ea typeface="Arial"/>
                <a:cs typeface="Arial"/>
              </a:rPr>
              <a:t>cache[]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5E727-680D-43AD-B531-A56738A6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CEF"/>
          </a:solidFill>
          <a:ln xmlns:a="http://schemas.openxmlformats.org/drawingml/2006/main" w="11430">
            <a:solidFill>
              <a:srgbClr val="9BD9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D61B5-B50B-4971-BC3B-2135FF2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9D7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F9D72"/>
                </a:solidFill>
                <a:latin typeface="Aptos Mono"/>
                <a:ea typeface="Aptos Mono"/>
                <a:cs typeface="Aptos Mono"/>
              </a:rPr>
              <a:t>partition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7AA92-20BF-4180-92E6-038C95A3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pthread_rwlock_t + RBTree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710C5-9E4A-45EE-8435-DC5B7B5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1F9D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B3A32-BE61-4D23-A20B-7E4E17A8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432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F9D7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9D72"/>
                </a:solidFill>
                <a:latin typeface="Arial"/>
                <a:ea typeface="Arial"/>
                <a:cs typeface="Arial"/>
              </a:rPr>
              <a:t>cache[]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589CB0-4C63-4AE8-BD0E-97C8013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852D7-B431-4654-8623-2D58A15D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48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A48C6"/>
                </a:solidFill>
                <a:latin typeface="Aptos Mono"/>
                <a:ea typeface="Aptos Mono"/>
                <a:cs typeface="Aptos Mono"/>
              </a:rPr>
              <a:t>partition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FEC841-6147-48A2-B226-A83C12CE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571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pthread_rwlock_t + RBTree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4E891A-53A9-4ADD-B8A1-D5ECF835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671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8586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2B3613-6CC3-4115-8BA1-A2A4B02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242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586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586D8"/>
                </a:solidFill>
                <a:latin typeface="Arial"/>
                <a:ea typeface="Arial"/>
                <a:cs typeface="Arial"/>
              </a:rPr>
              <a:t>cache[]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BA91B-9DE3-4D3E-B1C1-F5DD0BB6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266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F9D72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1F9D72"/>
                </a:solidFill>
                <a:latin typeface="Arial"/>
                <a:ea typeface="Arial"/>
                <a:cs typeface="Arial"/>
              </a:rPr>
              <a:t>每个分区独立锁，减少全局竞争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1002BF-547C-484E-BB2C-0DF17DF3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9DD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BDB108-7BFB-4ED3-8D44-AAEE5D1B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52875"/>
            <a:ext cx="4533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struct hash_partition {</a:t>
            </a:r>
          </a:p>
          <a:p xmlns:a="http://schemas.openxmlformats.org/drawingml/2006/main">
            <a:pPr algn="l">
              <a:def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  size_t count;</a:t>
            </a:r>
          </a:p>
          <a:p xmlns:a="http://schemas.openxmlformats.org/drawingml/2006/main">
            <a:pPr algn="l">
              <a:def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  struct rbt_head rbt;</a:t>
            </a:r>
          </a:p>
          <a:p xmlns:a="http://schemas.openxmlformats.org/drawingml/2006/main">
            <a:pPr algn="l">
              <a:def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  pthread_rwlock_t ht_lock;</a:t>
            </a:r>
          </a:p>
          <a:p xmlns:a="http://schemas.openxmlformats.org/drawingml/2006/main">
            <a:pPr algn="l">
              <a:def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  struct rbt_node **cache;</a:t>
            </a:r>
          </a:p>
          <a:p xmlns:a="http://schemas.openxmlformats.org/drawingml/2006/main">
            <a:pPr algn="l">
              <a:def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277120-3CA0-40F0-A046-D7031748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390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E7C88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F7AD12-C62B-4A16-89EF-49F9CC00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91050"/>
            <a:ext cx="3600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7916"/>
                </a:solidFill>
                <a:latin typeface="Microsoft YaHei"/>
                <a:ea typeface="Microsoft YaHei"/>
                <a:cs typeface="Microsoft YaHei"/>
              </a:rPr>
              <a:t>并发收益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36322A-2060-442C-A258-AB35FAF6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请求只锁定目标分区；lookup 复杂度落在分区内 RBTree 上，而不是一个全局结构。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1B3BD5-FF49-4390-B35A-19EC189D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Source: hashtable.c description and hash_table/hash_partition structures in section 2.3/2.4</a:t>
            </a:r>
          </a:p>
        </p:txBody>
      </p:sp>
    </p:spTree>
    <p:extLst>
      <p:ext uri="{BB962C8B-B14F-4D97-AF65-F5344CB8AC3E}">
        <p14:creationId xmlns:p14="http://schemas.microsoft.com/office/powerpoint/2010/main" val="12972245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00ED6-F075-449B-922E-640EF9A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A8E54-0F8D-446B-B984-12788746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LRU 淘汰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BC122-020D-434A-8C0C-32EC22C3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f3172a70c4617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6cdaed56648e1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3CC2E-9D04-48C1-B96C-6F7C4615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382B1-C1F3-49B0-BC5D-1F5DC247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9A61F-E863-41AC-A2AE-3B4E82CB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B753F-9236-4621-A535-F1C0D61A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95426-A9A6-4601-BE8D-11F5315D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C67B8-BE24-4D53-8AED-5D120C8F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多级 LRU 通过 L1/L2/ACTIVE/CLEANUP 与 17 车道降低淘汰抖动。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22C76-3BC5-47D9-B635-D3D726D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8"/>
          </a:solidFill>
          <a:ln xmlns:a="http://schemas.openxmlformats.org/drawingml/2006/main" w="11430">
            <a:solidFill>
              <a:srgbClr val="1F9D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17595-EC26-40BE-83E6-80AC41E2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rPr>
              <a:t>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CCEA7-AFD7-4E50-B53E-CFBC9E6F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6954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refcnt &gt; 0</a:t>
            </a:r>
          </a:p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活跃引用队列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333E7-14F4-4CA3-98EB-F3A7AB84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4A48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8F491-2024-4A8B-9B1E-47CE040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24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BCDDB-39CB-45AB-9725-40AD8927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90800"/>
            <a:ext cx="16954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热数据</a:t>
            </a:r>
          </a:p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晋升/保留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12266-8BCB-469A-AAF7-381726D5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8586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4C6FF-C667-4320-B83A-676EE80C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586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586D8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1B165-31A4-4948-8A4E-16610DB2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16954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冷数据</a:t>
            </a:r>
          </a:p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LRU 端候选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41DA8-B026-48EC-B4F5-3520F631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98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F3"/>
          </a:solidFill>
          <a:ln xmlns:a="http://schemas.openxmlformats.org/drawingml/2006/main" w="11430">
            <a:solidFill>
              <a:srgbClr val="D553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FDE8E-9829-429D-9832-6194CED5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55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5535C"/>
                </a:solidFill>
                <a:latin typeface="Microsoft YaHei"/>
                <a:ea typeface="Microsoft YaHei"/>
                <a:cs typeface="Microsoft YaHei"/>
              </a:rPr>
              <a:t>CLEANUP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6174B-D3D2-4B41-B350-48A7F493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90800"/>
            <a:ext cx="16954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后台清理</a:t>
            </a:r>
          </a:p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回收资源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8BA63-670F-4D91-B741-A5768027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solidFill>
              <a:srgbClr val="1F9D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18DFAF-FFCF-40D0-812F-3C404BF3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860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F81D5D-0B4A-46B7-B5CF-1CD1F72F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35C"/>
          </a:solidFill>
          <a:ln xmlns:a="http://schemas.openxmlformats.org/drawingml/2006/main" w="0">
            <a:solidFill>
              <a:srgbClr val="D553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C8C42B-A668-4425-9707-4B76FA8C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433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引用释放后回到 L1/L2；高水位触发 release_entries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4331F-FAFB-4FF6-849C-511F2463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8C1D85-E0F5-4EAC-92CF-F8289C7B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29125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LRU_N_Q_LANES = 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48DF7-CEE2-4D4A-B58B-3E5E4AED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AE2609-CE06-4C3B-8095-436E0EF5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A747CA-F1F4-4234-82F0-C3BC7636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96520D-A163-4CBB-91C9-30D74F66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F90C67-2E58-4717-B6AD-E28E3343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A895E0-2722-4A03-B85B-EE4AAD24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BFB156-7412-4E7F-9092-E83BE2F6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FC31D1-0188-41FF-B3BC-52D09C62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1685EB-693B-46F3-AF71-E0B5697C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257385-DEFC-40E9-AFC9-CE45FA12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590367-B4FF-4E03-B944-A44E5374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158BB-1C49-46A2-A921-6CA68E1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4A185-A5D4-4BAE-AEF0-ADE6DCC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F95C31-ED46-4CBF-8522-88BA3DD3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AC0A81-F4EA-4138-9B3D-8F2E8139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E55C10-D64D-412B-959F-D1FD9446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891BFE-314D-4CCA-971C-8F638477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6863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AF9376-3125-45D4-A36C-8790FE1C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00550"/>
            <a:ext cx="561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17 个独立 lane 把队列锁竞争拆散；后台清理线程按水位异步释放。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B74386-47E6-41B0-84E6-4EF9DA07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E7C88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3BEEA3-9DB6-4DBC-BAC7-B6A0734C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48300"/>
            <a:ext cx="769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97916"/>
                </a:solidFill>
                <a:latin typeface="Microsoft YaHei"/>
                <a:ea typeface="Microsoft YaHei"/>
                <a:cs typeface="Microsoft YaHei"/>
              </a:rPr>
              <a:t>水位管理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741585-487C-4DDB-AF79-82043C85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15000"/>
            <a:ext cx="7696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entries_hiwat / entries_used / entries_release_size</a:t>
            </a:r>
          </a:p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chunks_hiwat / chunks_lowat / chunks_used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53C0A8-9D4D-4918-989A-E4130279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Source: MQ-inspired LRU queues, lane count, and lru_state fields in section 3</a:t>
            </a:r>
          </a:p>
        </p:txBody>
      </p:sp>
    </p:spTree>
    <p:extLst>
      <p:ext uri="{BB962C8B-B14F-4D97-AF65-F5344CB8AC3E}">
        <p14:creationId xmlns:p14="http://schemas.microsoft.com/office/powerpoint/2010/main" val="2579978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73B3D-7852-4F75-B1A5-2592DBC2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59918-59D0-41C8-BFBC-05DF2D95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命中/未命中路径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18F5D-E57F-4E8E-95C4-EE582BA1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3c75f478a41da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7a329257c44f2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5E38E-1F87-418F-91EA-17EA06CB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C9856-F78A-4294-8A2E-74D17EC0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4FA2D-66B6-4738-852A-A8201D16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D9BA3-7E66-46D6-AAC4-C8C57453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2FB19-E7ED-4D4F-AFB4-180210B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1FCB0-3914-4D7B-ABD9-10FE8F9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命中率信号在 lookup/handle 路径上被记录，而不是事后推断。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48A8D-FE15-44C0-80BE-D308963A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01675-2041-4C8B-89CB-86EFD160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NFS 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E2A25-1257-4FAB-A2DD-7E5FEF30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981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发起 lookup/getattr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FCE60-AB13-47FB-859F-A3C34F53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5AF70-0E53-47A3-8D1A-9EC24E3B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Protocols/NFS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544C4-8B43-46F7-8E4C-0DC56B25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76500"/>
            <a:ext cx="981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协议处理与 RPC 分发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A286D-7427-4D6A-9B0D-CCC00447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9550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568F1-FD2B-4897-B4C2-C80864F0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09800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mdc_lookup()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18314-830C-46F0-9F35-0543474D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981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进入 MDCACHE 查询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F9A5B-7DC7-4427-B23A-20E25059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9550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11720-6A26-4843-A686-41540108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9800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cih_lookup()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60D6A-0F36-4685-8B89-85629B5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76500"/>
            <a:ext cx="981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分区 RBTree 查找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98AE6-6F79-4228-8CAD-2AA6106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00313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5B3E5-00E4-4783-B880-7C484DD5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00313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A9923-38C7-4899-9E93-D016C8C3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00313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B16E4B-307E-4A4A-BF96-3BEEC21A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428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8"/>
          </a:solidFill>
          <a:ln xmlns:a="http://schemas.openxmlformats.org/drawingml/2006/main" w="11430">
            <a:solidFill>
              <a:srgbClr val="1F9D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647F14-07BD-49D5-9530-E6E89EF6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09750"/>
            <a:ext cx="2124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rPr>
              <a:t>HIT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A574A-22A3-4DE4-8A17-D8087DA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2124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dynamic_metrics__</a:t>
            </a:r>
          </a:p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mdcache_cache_hit()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57665-AC0C-448D-9C3D-1616350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2428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F3"/>
          </a:solidFill>
          <a:ln xmlns:a="http://schemas.openxmlformats.org/drawingml/2006/main" w="11430">
            <a:solidFill>
              <a:srgbClr val="D553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9F0A9-2427-4247-B6E8-84350CFC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24200"/>
            <a:ext cx="2124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55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5535C"/>
                </a:solidFill>
                <a:latin typeface="Microsoft YaHei"/>
                <a:ea typeface="Microsoft YaHei"/>
                <a:cs typeface="Microsoft YaHei"/>
              </a:rPr>
              <a:t>MISS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48132F-79FA-4B9F-B60C-61FC3C37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90900"/>
            <a:ext cx="21240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dynamic_metrics__</a:t>
            </a:r>
          </a:p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mdcache_cache_miss()</a:t>
            </a:r>
          </a:p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then lower FSAL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0B2349-8885-42B5-8F81-F90D527C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90763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2"/>
          </a:solidFill>
          <a:ln xmlns:a="http://schemas.openxmlformats.org/drawingml/2006/main" w="0">
            <a:solidFill>
              <a:srgbClr val="1F9D7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17B87-AC39-4728-9E0E-544EA2AF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28913"/>
            <a:ext cx="69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35C"/>
          </a:solidFill>
          <a:ln xmlns:a="http://schemas.openxmlformats.org/drawingml/2006/main" w="0">
            <a:solidFill>
              <a:srgbClr val="D5535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BE6ACA-48F4-4FDC-BDA2-B3853730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F"/>
          </a:solidFill>
          <a:ln xmlns:a="http://schemas.openxmlformats.org/drawingml/2006/main" w="11430">
            <a:solidFill>
              <a:srgbClr val="B5B7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3AD182-6B4C-4A9A-A214-202B61C0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24350"/>
            <a:ext cx="883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记录点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53AC4E-2AA5-4D2D-8B5A-7C63D0E5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91050"/>
            <a:ext cx="883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mdcache_handle.c: ~1005 / ~1019 / ~1029 / ~1033</a:t>
            </a:r>
          </a:p>
          <a:p xmlns:a="http://schemas.openxmlformats.org/drawingml/2006/main">
            <a:pPr algn="l">
              <a:def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mdcache_helpers.c: ~1283 / ~1337 / ~1368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A0E8D1-7317-46B4-957F-DE9E0FCF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6735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结论：Prometheus 上看到的 hit-rate，本质上是这些路径分支的 counter 比值。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EFAA8-7E51-406F-A905-44F7158B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Source: hit/miss recording points and lookup flow in sections 4.3 and 6.1</a:t>
            </a:r>
          </a:p>
        </p:txBody>
      </p:sp>
    </p:spTree>
    <p:extLst>
      <p:ext uri="{BB962C8B-B14F-4D97-AF65-F5344CB8AC3E}">
        <p14:creationId xmlns:p14="http://schemas.microsoft.com/office/powerpoint/2010/main" val="2423566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11D24-C041-4319-9280-F1828C8D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5E1E4-90D2-4C56-B5F9-579B0841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命中率计算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0AF7A-1081-4D98-A381-01289B57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46fd4341c4a0b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fe00033b94ade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5EABB-79FC-4B6D-804B-88878A12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EECCE-24D9-405A-A1BE-3AF81164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D193F-A25B-43E8-B642-707229B2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FCEAB-0409-4220-8E34-EA6BBDDC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FF32F-68F8-4F9E-8A04-EE59F812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44442-4F59-4AA2-91F2-8FED1C72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命中率公式很简单，可信度取决于 counter 口径和 PromQL 窗口。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FCA6F-115E-497A-B9F3-7DFB49A9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37BEC-DEDF-4B64-A611-774FDBD8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hit_rate =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B40E0-6F71-4E36-9A7C-C7BFCCA1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hits / (hits + misses)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882CD-CE32-4ECE-ABF0-ED923056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9525">
            <a:solidFill>
              <a:srgbClr val="4A48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D30CA-BFE2-4729-BA47-2B436A6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954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Counter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B3A2F-08D7-4F61-82D9-9C116B86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954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C64DB-7754-409E-BAD8-876EBA88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D9DD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EC6F4-DB27-40E3-B2C2-145FBB8B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526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40" b="1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mdcache_cache_hits_total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F9280-AC56-4044-82D4-517AD4CC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526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全局命中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DEF8D-34CD-4964-94CB-1016D30D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D9DD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77F61-1344-4928-AE14-44DF875F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98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40" b="1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mdcache_cache_misses_total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56548-82D7-4FEC-B14B-93339E1F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9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全局未命中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0B04B-F91C-43F0-A3E5-0636989B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D9DD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88B92-6DF1-4F86-B395-4FA398C3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670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40" b="1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mdcache_cache_hits_by_export_total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C2B19-A2CA-4E72-B106-5BB31D02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7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按 export 分组命中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3DB81C-1941-474A-95B4-EE941FD0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9525">
            <a:solidFill>
              <a:srgbClr val="D9DD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7CDC7-9DF7-4E4E-8756-74D9027C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24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840" b="1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mdcache_cache_misses_by_export_total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41F07-3539-4290-8F16-2D077B6A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242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按 export 分组未命中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0FAB9-19A2-4D11-8B83-9AD3E337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95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9DD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445964-C2BB-4D16-91FE-5A710ED1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4724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rate(mdcache_cache_hits_total[5m]) /</a:t>
            </a:r>
          </a:p>
          <a:p xmlns:a="http://schemas.openxmlformats.org/drawingml/2006/main">
            <a:pPr algn="l">
              <a:defRPr sz="975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(rate(mdcache_cache_hits_total[5m]) +</a:t>
            </a:r>
          </a:p>
          <a:p xmlns:a="http://schemas.openxmlformats.org/drawingml/2006/main">
            <a:pPr algn="l">
              <a:defRPr sz="975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 rate(mdcache_cache_misses_total[5m]))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343D56-042F-4A20-9218-54D4E0BE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8"/>
          </a:solidFill>
          <a:ln xmlns:a="http://schemas.openxmlformats.org/drawingml/2006/main" w="11430">
            <a:solidFill>
              <a:srgbClr val="9BD9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420F90-1DD6-4068-924D-60B22ECB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71925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rPr>
              <a:t>按导出分组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87D313-9516-458C-8117-0ECD20B1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38625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把 total 换成 *_by_export_total，并按 export_id 聚合或筛选。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FF09B3-88BA-4E6D-9EBB-B797242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1430">
            <a:solidFill>
              <a:srgbClr val="E7C88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F861C-D989-44C0-91B8-B83C7C4C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79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7916"/>
                </a:solidFill>
                <a:latin typeface="Microsoft YaHei"/>
                <a:ea typeface="Microsoft YaHei"/>
                <a:cs typeface="Microsoft YaHei"/>
              </a:rPr>
              <a:t>阅读注意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8A696F-D494-4FA2-9B6B-CE0BB2EB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3124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窗口太短会抖动；没有 workload 标签时，只能从 operation/export 维度解释命中率。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663BC9-A35A-468A-9FA6-D6D505C3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Source: DynamicMetrics counters, formula, and PromQL examples in sections 4.2/4.5/4.7</a:t>
            </a:r>
          </a:p>
        </p:txBody>
      </p:sp>
    </p:spTree>
    <p:extLst>
      <p:ext uri="{BB962C8B-B14F-4D97-AF65-F5344CB8AC3E}">
        <p14:creationId xmlns:p14="http://schemas.microsoft.com/office/powerpoint/2010/main" val="19506132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3FAD1-2C74-407E-83E1-24BF5AB8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952CE-B767-4F88-BAAE-4AFD423F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结构与函数地图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27246-66E0-46FF-AF0C-61B25E74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8200"/>
            <a:ext cx="1148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7b7083ce7427b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3f41b580d4d04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3DE6E-1DEE-4AC1-8CFA-34AECD26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00C79-502C-445E-B3B5-BFE55E6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524625"/>
            <a:ext cx="42672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AFF57-D925-4CEC-A304-F3217867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6524625"/>
            <a:ext cx="3657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20951-E2A5-414F-9C8D-D9BFE683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81775"/>
            <a:ext cx="4000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Zupeng Wang | HUST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3A023-EAC5-466A-908B-5DDD60E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67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D7ABD-024B-4CB4-9CE0-2F0522E7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关键结构和函数共同定义缓存对象生命周期。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EFACC-29D3-4F6C-B52D-D960549E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FF8"/>
          </a:solidFill>
          <a:ln xmlns:a="http://schemas.openxmlformats.org/drawingml/2006/main" w="11430">
            <a:solidFill>
              <a:srgbClr val="9BD9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4765C-E05D-4960-949A-0C5FE94B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9D72"/>
                </a:solidFill>
                <a:latin typeface="Microsoft YaHei"/>
                <a:ea typeface="Microsoft YaHei"/>
                <a:cs typeface="Microsoft YaHei"/>
              </a:rPr>
              <a:t>mdcache_stats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758AA-D53B-4FB8-A9F6-115D6E32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38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inode_req / inode_hit / inode_miss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inode_conf / inode_added / inode_mapping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199E9-6E3C-4F9B-9382-64A680A7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097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DC203-34F1-4447-99E7-43B26923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mdcache_key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3EACE-F152-4194-A6B6-16A8B2D7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838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hk / fsal / kv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hash-first compare, then deep compare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92697-7F03-4A66-BCC5-2FE9D708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801AF-BF06-4B39-A848-4FEB3453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mdcache_lru_t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7ED24-85C9-4C16-A71B-8ED65D10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838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qid / refcnt / active_refcnt</a:t>
            </a:r>
          </a:p>
          <a:p xmlns:a="http://schemas.openxmlformats.org/drawingml/2006/main">
            <a:pPr algn="l">
              <a:def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flags / lane / cf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CD8E7-5158-441D-A938-6237574D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979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EB948-7CB7-4530-9696-F2A62DB9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147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B4DF6F-30BE-486F-8E9C-5C4A7515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147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6EE37-4F04-4CA4-8612-C763788E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14725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关键函数 / 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687AB7-AF95-4CBF-95AB-FB1158B8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979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7620">
            <a:solidFill>
              <a:srgbClr val="D9DD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F2502-9DEB-4A83-992C-6D8F7CD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哈希查询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92084-DA6C-4D66-A0AA-21EE5B0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67150"/>
            <a:ext cx="2095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mdcache_hash.c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47037E-1D33-4285-8811-85459BA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342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cih_lookup()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DA4DDC-800E-4B85-AE94-DDF75FFE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979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F"/>
          </a:solidFill>
          <a:ln xmlns:a="http://schemas.openxmlformats.org/drawingml/2006/main" w="7620">
            <a:solidFill>
              <a:srgbClr val="D9DD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C5D5E-C9A6-42C4-A4B8-1325CDD6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查询操作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D8298-2342-4412-A1F1-D7E2E1E9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29100"/>
            <a:ext cx="2095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mdcache_helpers.c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5AE450-584B-48DD-AA96-65F28E38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29100"/>
            <a:ext cx="342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mdc_lookup()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FFBC55-9363-4B88-881E-DDF21253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979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7620">
            <a:solidFill>
              <a:srgbClr val="D9DD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7C6FDC-C025-429F-9FA7-46D3FFDF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创建条目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EDC770-3D94-45C2-8927-E967A55C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2095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mdcache_handle.c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1642C3-D24E-4D04-8483-8DCE2967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342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mdcache_alloc_and_check_handle()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100FE9-9E9B-4A4C-9123-F0EA820E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979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F"/>
          </a:solidFill>
          <a:ln xmlns:a="http://schemas.openxmlformats.org/drawingml/2006/main" w="7620">
            <a:solidFill>
              <a:srgbClr val="D9DD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C5E895-AABB-45FF-9F14-F3B9E1C5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引用管理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993DE0-C1E9-421F-8E44-221FB763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2095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mdcache_lru.c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55224D-2CE5-4035-AD72-57D5314E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342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_mdcache_lru_ref() / _mdcache_lru_unref()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26EB68-F7FC-4D3D-9B2F-C5CFBE86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979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F"/>
          </a:solidFill>
          <a:ln xmlns:a="http://schemas.openxmlformats.org/drawingml/2006/main" w="7620">
            <a:solidFill>
              <a:srgbClr val="D9DDF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6963C2-106B-4CE3-8848-280EB56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171B2A"/>
                </a:solidFill>
                <a:latin typeface="Microsoft YaHei"/>
                <a:ea typeface="Microsoft YaHei"/>
                <a:cs typeface="Microsoft YaHei"/>
              </a:rPr>
              <a:t>异步淘汰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C84D5F-7845-4738-BFDB-6EEF7C5F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314950"/>
            <a:ext cx="2095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commonlib.c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6E7E1F-2A78-458A-BB13-0E4328BF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34290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defRPr>
            </a:pPr>
            <a:r>
              <a:rPr sz="840" b="0">
                <a:solidFill>
                  <a:srgbClr val="555B70"/>
                </a:solidFill>
                <a:latin typeface="Aptos Mono"/>
                <a:ea typeface="Aptos Mono"/>
                <a:cs typeface="Aptos Mono"/>
              </a:rPr>
              <a:t>fd_lru_run()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19DA2D-AD19-4B16-AB0F-AA802322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7C88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332CFF-7FBA-475D-9F71-FE01FAB2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67400"/>
            <a:ext cx="882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1B2A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171B2A"/>
                </a:solidFill>
                <a:latin typeface="Aptos Mono"/>
                <a:ea typeface="Aptos Mono"/>
                <a:cs typeface="Aptos Mono"/>
              </a:rPr>
              <a:t>缓存对象生命周期 = key lookup -&gt; ref/unref -&gt; queue transition -&gt; expiry/cleanup -&gt; metrics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D44199-1439-43A8-BE91-AC7D7489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C8198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7C8198"/>
                </a:solidFill>
                <a:latin typeface="Arial"/>
                <a:ea typeface="Arial"/>
                <a:cs typeface="Arial"/>
              </a:rPr>
              <a:t>Source: key data structures in section 5 and function map in section 8</a:t>
            </a:r>
          </a:p>
        </p:txBody>
      </p:sp>
    </p:spTree>
    <p:extLst>
      <p:ext uri="{BB962C8B-B14F-4D97-AF65-F5344CB8AC3E}">
        <p14:creationId xmlns:p14="http://schemas.microsoft.com/office/powerpoint/2010/main" val="12871998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10B6AB-94B0-4D91-8949-CC4EABB0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a37c3c7384068"/>
          <a:stretch xmlns:a="http://schemas.openxmlformats.org/drawingml/2006/main"/>
        </p:blipFill>
        <p:spPr>
          <a:xfrm xmlns:a="http://schemas.openxmlformats.org/drawingml/2006/main">
            <a:off x="7810500" y="219724"/>
            <a:ext cx="723900" cy="551151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69e1cf9644f5c"/>
          <a:stretch xmlns:a="http://schemas.openxmlformats.org/drawingml/2006/main"/>
        </p:blipFill>
        <p:spPr>
          <a:xfrm xmlns:a="http://schemas.openxmlformats.org/drawingml/2006/main">
            <a:off x="8591550" y="201138"/>
            <a:ext cx="3324225" cy="56927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00C73-3153-4EEF-8EB8-4601EC9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33650"/>
            <a:ext cx="2381250" cy="2381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586D8"/>
          </a:solidFill>
          <a:ln xmlns:a="http://schemas.openxmlformats.org/drawingml/2006/main" w="0">
            <a:solidFill>
              <a:srgbClr val="858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71E97-ADF8-4BC1-9378-CBB74209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62000"/>
            <a:ext cx="1428750" cy="1428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50624-E25D-48D9-96C8-FA7B7DC0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1714500" cy="1714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4A48C6"/>
          </a:solidFill>
          <a:ln xmlns:a="http://schemas.openxmlformats.org/drawingml/2006/main" w="0">
            <a:solidFill>
              <a:srgbClr val="4A48C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7974B-37B1-4FDA-8DBB-3CA00D4A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24500"/>
            <a:ext cx="742950" cy="742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B4A63-91BB-4627-B622-2944FBAC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76450"/>
            <a:ext cx="7239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5B7E9"/>
          </a:solidFill>
          <a:ln xmlns:a="http://schemas.openxmlformats.org/drawingml/2006/main" w="0">
            <a:solidFill>
              <a:srgbClr val="B5B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D597E-C319-4EBB-92B7-36A157CD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907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48F2D-6747-409F-96BF-D51A2097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244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Q&amp;A</a:t>
            </a:r>
          </a:p>
          <a:p xmlns:a="http://schemas.openxmlformats.org/drawingml/2006/main">
            <a:pPr algn="ctr">
              <a:defRPr sz="3150" b="1">
                <a:solidFill>
                  <a:srgbClr val="4A48C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A48C6"/>
                </a:solidFill>
                <a:latin typeface="Arial"/>
                <a:ea typeface="Arial"/>
                <a:cs typeface="Arial"/>
              </a:rPr>
              <a:t>Thanks!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A4849-DD02-4D6F-A3E5-CF4473AC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9CC5C-06F0-4CDB-89D4-64365CC9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3409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764EA-5B8A-48F3-BB79-3A75B19C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4320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MDCACHE 位于 FSAL 栈中间，透明连接协议层和后端。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9D51A-B849-446E-A64D-26611884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B065D-594A-4289-8D4F-74162885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05150"/>
            <a:ext cx="3409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B1D02-65C0-43F5-8C7B-9B5EFBD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分区 RBTree 解决查找并发，多级 LRU 解决生命周期。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C6AD1-5417-41CA-9310-2051DB90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AF5DD-6CD6-4C64-93F5-3783B54A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33800"/>
            <a:ext cx="3409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B8888-089B-4E07-ABE4-64AFF689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0050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hit/miss counter 是命中率的唯一可靠来源。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03902-E7C5-429F-8305-B92D5D3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481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F"/>
          </a:solidFill>
          <a:ln xmlns:a="http://schemas.openxmlformats.org/drawingml/2006/main" w="11430">
            <a:solidFill>
              <a:srgbClr val="D9DD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B2311-1B0A-4D16-8358-64323D43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3409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4A48C6"/>
                </a:solidFill>
                <a:latin typeface="Microsoft YaHei"/>
                <a:ea typeface="Microsoft YaHei"/>
                <a:cs typeface="Microsoft YaHei"/>
              </a:rPr>
              <a:t>运维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AFDB7-6E77-498C-A681-23CDE995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B70"/>
                </a:solidFill>
                <a:latin typeface="Microsoft YaHei"/>
                <a:ea typeface="Microsoft YaHei"/>
                <a:cs typeface="Microsoft YaHei"/>
              </a:rPr>
              <a:t>结合水位、过期时间、日志组件和 export 维度定位问题。</a:t>
            </a:r>
          </a:p>
        </p:txBody>
      </p:sp>
    </p:spTree>
    <p:extLst>
      <p:ext uri="{BB962C8B-B14F-4D97-AF65-F5344CB8AC3E}">
        <p14:creationId xmlns:p14="http://schemas.microsoft.com/office/powerpoint/2010/main" val="1541044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2026-05-18T04:44:38.2460000Z</dcterms:created>
  <dcterms:modified xsi:type="dcterms:W3CDTF">2026-05-18T04:44:38.2460000Z</dcterms:modified>
</coreProperties>
</file>