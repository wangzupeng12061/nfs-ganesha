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14fe18c0a24e9c" /><Relationship Type="http://schemas.openxmlformats.org/officeDocument/2006/relationships/extended-properties" Target="/docProps/app.xml" Id="R57f77e363297463a" /><Relationship Type="http://schemas.openxmlformats.org/officeDocument/2006/relationships/officeDocument" Target="/ppt/presentation.xml" Id="Rb7fd7bc9832f4e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88b7e1232444af"/>
  </p:sldMasterIdLst>
  <p:notesMasterIdLst>
    <p:notesMasterId xmlns:r="http://schemas.openxmlformats.org/officeDocument/2006/relationships" r:id="Rc26976754c764a64"/>
  </p:notesMasterIdLst>
  <p:sldIdLst>
    <p:sldId xmlns:r="http://schemas.openxmlformats.org/officeDocument/2006/relationships" id="256" r:id="Ra42ef0df55084c89"/>
    <p:sldId xmlns:r="http://schemas.openxmlformats.org/officeDocument/2006/relationships" id="257" r:id="R041ee48d2b90488e"/>
    <p:sldId xmlns:r="http://schemas.openxmlformats.org/officeDocument/2006/relationships" id="258" r:id="R15d7136dde84409b"/>
    <p:sldId xmlns:r="http://schemas.openxmlformats.org/officeDocument/2006/relationships" id="259" r:id="Rcae1e145d6dd45ef"/>
    <p:sldId xmlns:r="http://schemas.openxmlformats.org/officeDocument/2006/relationships" id="260" r:id="R3df8d21d237b41df"/>
    <p:sldId xmlns:r="http://schemas.openxmlformats.org/officeDocument/2006/relationships" id="261" r:id="R339737c671d1482f"/>
    <p:sldId xmlns:r="http://schemas.openxmlformats.org/officeDocument/2006/relationships" id="262" r:id="Rc01a359e5f834022"/>
    <p:sldId xmlns:r="http://schemas.openxmlformats.org/officeDocument/2006/relationships" id="263" r:id="R7ad0842bef0a4a68"/>
    <p:sldId xmlns:r="http://schemas.openxmlformats.org/officeDocument/2006/relationships" id="264" r:id="R34e2c7c4984543d1"/>
    <p:sldId xmlns:r="http://schemas.openxmlformats.org/officeDocument/2006/relationships" id="265" r:id="Ra1d9d8073c4640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8b7e1232444af" /><Relationship Type="http://schemas.openxmlformats.org/officeDocument/2006/relationships/theme" Target="/ppt/theme/theme1.xml" Id="R892adc75e0304a12" /><Relationship Type="http://schemas.openxmlformats.org/officeDocument/2006/relationships/notesMaster" Target="/ppt/notesMasters/notesMaster1.xml" Id="Rc26976754c764a64" /><Relationship Type="http://schemas.openxmlformats.org/officeDocument/2006/relationships/presProps" Target="/ppt/presProps.xml" Id="Rdcef084719a94e01" /><Relationship Type="http://schemas.openxmlformats.org/officeDocument/2006/relationships/viewProps" Target="/ppt/viewProps.xml" Id="Rae1fc5720c224c5f" /><Relationship Type="http://schemas.openxmlformats.org/officeDocument/2006/relationships/tableStyles" Target="/ppt/tableStyles.xml" Id="Rad0ae1ed6b1844d4" /><Relationship Type="http://schemas.openxmlformats.org/officeDocument/2006/relationships/slide" Target="/ppt/slides/slide1.xml" Id="Ra42ef0df55084c89" /><Relationship Type="http://schemas.openxmlformats.org/officeDocument/2006/relationships/slide" Target="/ppt/slides/slide2.xml" Id="R041ee48d2b90488e" /><Relationship Type="http://schemas.openxmlformats.org/officeDocument/2006/relationships/slide" Target="/ppt/slides/slide3.xml" Id="R15d7136dde84409b" /><Relationship Type="http://schemas.openxmlformats.org/officeDocument/2006/relationships/slide" Target="/ppt/slides/slide4.xml" Id="Rcae1e145d6dd45ef" /><Relationship Type="http://schemas.openxmlformats.org/officeDocument/2006/relationships/slide" Target="/ppt/slides/slide5.xml" Id="R3df8d21d237b41df" /><Relationship Type="http://schemas.openxmlformats.org/officeDocument/2006/relationships/slide" Target="/ppt/slides/slide6.xml" Id="R339737c671d1482f" /><Relationship Type="http://schemas.openxmlformats.org/officeDocument/2006/relationships/slide" Target="/ppt/slides/slide7.xml" Id="Rc01a359e5f834022" /><Relationship Type="http://schemas.openxmlformats.org/officeDocument/2006/relationships/slide" Target="/ppt/slides/slide8.xml" Id="R7ad0842bef0a4a68" /><Relationship Type="http://schemas.openxmlformats.org/officeDocument/2006/relationships/slide" Target="/ppt/slides/slide9.xml" Id="R34e2c7c4984543d1" /><Relationship Type="http://schemas.openxmlformats.org/officeDocument/2006/relationships/slide" Target="/ppt/slides/slide10.xml" Id="Ra1d9d8073c4640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f9a2236efd349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1a4013875043ad" /><Relationship Type="http://schemas.openxmlformats.org/officeDocument/2006/relationships/notesMaster" Target="/ppt/notesMasters/notesMaster1.xml" Id="R6f45730aafe744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74f4f61d7f4ed8" /><Relationship Type="http://schemas.openxmlformats.org/officeDocument/2006/relationships/notesMaster" Target="/ppt/notesMasters/notesMaster1.xml" Id="R2318c0c1186c42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6df7cea1c34b3d" /><Relationship Type="http://schemas.openxmlformats.org/officeDocument/2006/relationships/notesMaster" Target="/ppt/notesMasters/notesMaster1.xml" Id="Rf03cc0f6b97345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a937091adf497a" /><Relationship Type="http://schemas.openxmlformats.org/officeDocument/2006/relationships/notesMaster" Target="/ppt/notesMasters/notesMaster1.xml" Id="Rd9704a18490c4f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ba4afb2fb34ff2" /><Relationship Type="http://schemas.openxmlformats.org/officeDocument/2006/relationships/notesMaster" Target="/ppt/notesMasters/notesMaster1.xml" Id="Rd7959ca245184b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c28f601c864928" /><Relationship Type="http://schemas.openxmlformats.org/officeDocument/2006/relationships/notesMaster" Target="/ppt/notesMasters/notesMaster1.xml" Id="R384ea0b7cd064f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25f68a463440a9" /><Relationship Type="http://schemas.openxmlformats.org/officeDocument/2006/relationships/notesMaster" Target="/ppt/notesMasters/notesMaster1.xml" Id="Rcb3b26de187945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b3665e4503483e" /><Relationship Type="http://schemas.openxmlformats.org/officeDocument/2006/relationships/notesMaster" Target="/ppt/notesMasters/notesMaster1.xml" Id="R7660fb89e8bf49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5700cdad7642e1" /><Relationship Type="http://schemas.openxmlformats.org/officeDocument/2006/relationships/notesMaster" Target="/ppt/notesMasters/notesMaster1.xml" Id="Rdc9c9723f8034a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9811ca98f04096" /><Relationship Type="http://schemas.openxmlformats.org/officeDocument/2006/relationships/notesMaster" Target="/ppt/notesMasters/notesMaster1.xml" Id="Rd8b39a36218544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7cbacdb2c4c6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c043f9d776847fb" /><Relationship Type="http://schemas.openxmlformats.org/officeDocument/2006/relationships/slideLayout" Target="/ppt/slideLayouts/slideLayout2.xml" Id="R30b0f4b60d0d44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b0f4b60d0d44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05711cc3b54b3d" /><Relationship Type="http://schemas.openxmlformats.org/officeDocument/2006/relationships/image" Target="/ppt/media/image.png" Id="R9a09d58c14af4152" /><Relationship Type="http://schemas.openxmlformats.org/officeDocument/2006/relationships/image" Target="/ppt/media/image2.png" Id="R08d44dc70a834fcd" /><Relationship Type="http://schemas.openxmlformats.org/officeDocument/2006/relationships/notesSlide" Target="/ppt/notesSlides/notesSlide1.xml" Id="Rd3ef02904e0148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e902676ebb4798" /><Relationship Type="http://schemas.openxmlformats.org/officeDocument/2006/relationships/image" Target="/ppt/media/image.jpeg" Id="R74cb4196a39a4fad" /><Relationship Type="http://schemas.openxmlformats.org/officeDocument/2006/relationships/image" Target="/ppt/media/image3.png" Id="R17ed06a142ff4dc4" /><Relationship Type="http://schemas.openxmlformats.org/officeDocument/2006/relationships/notesSlide" Target="/ppt/notesSlides/notesSlide2.xml" Id="R04d25ba7761e4f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3273f38e5e45aa" /><Relationship Type="http://schemas.openxmlformats.org/officeDocument/2006/relationships/image" Target="/ppt/media/image2.jpeg" Id="Rbe921a13d94949a7" /><Relationship Type="http://schemas.openxmlformats.org/officeDocument/2006/relationships/image" Target="/ppt/media/image4.png" Id="R5fc80d91618d484b" /><Relationship Type="http://schemas.openxmlformats.org/officeDocument/2006/relationships/notesSlide" Target="/ppt/notesSlides/notesSlide3.xml" Id="Rca8d1541b87f4a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8d07c666174ac9" /><Relationship Type="http://schemas.openxmlformats.org/officeDocument/2006/relationships/image" Target="/ppt/media/image3.jpeg" Id="R994b37ee983740ba" /><Relationship Type="http://schemas.openxmlformats.org/officeDocument/2006/relationships/image" Target="/ppt/media/image5.png" Id="Rcab89aabfcde4c88" /><Relationship Type="http://schemas.openxmlformats.org/officeDocument/2006/relationships/notesSlide" Target="/ppt/notesSlides/notesSlide4.xml" Id="Rabb180bf690949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016415aec442c7" /><Relationship Type="http://schemas.openxmlformats.org/officeDocument/2006/relationships/image" Target="/ppt/media/image4.jpeg" Id="R524f301141a344ac" /><Relationship Type="http://schemas.openxmlformats.org/officeDocument/2006/relationships/image" Target="/ppt/media/image6.png" Id="R381e042d63684ca9" /><Relationship Type="http://schemas.openxmlformats.org/officeDocument/2006/relationships/notesSlide" Target="/ppt/notesSlides/notesSlide5.xml" Id="R0f2cb99fab3646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22be3ad9fb4c10" /><Relationship Type="http://schemas.openxmlformats.org/officeDocument/2006/relationships/image" Target="/ppt/media/image5.jpeg" Id="Rcab72a0e0ad244c5" /><Relationship Type="http://schemas.openxmlformats.org/officeDocument/2006/relationships/image" Target="/ppt/media/image7.png" Id="Rf46a442d87774a6e" /><Relationship Type="http://schemas.openxmlformats.org/officeDocument/2006/relationships/notesSlide" Target="/ppt/notesSlides/notesSlide6.xml" Id="R4c0c26a2b6164c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3e0672c4144fbe" /><Relationship Type="http://schemas.openxmlformats.org/officeDocument/2006/relationships/image" Target="/ppt/media/image6.jpeg" Id="Rd66898d55c864436" /><Relationship Type="http://schemas.openxmlformats.org/officeDocument/2006/relationships/image" Target="/ppt/media/image8.png" Id="Rdaf6a1103cd2433d" /><Relationship Type="http://schemas.openxmlformats.org/officeDocument/2006/relationships/notesSlide" Target="/ppt/notesSlides/notesSlide7.xml" Id="Rf9f8c7d212b64d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4635813d574829" /><Relationship Type="http://schemas.openxmlformats.org/officeDocument/2006/relationships/image" Target="/ppt/media/image7.jpeg" Id="R63b3c7dcd4194faa" /><Relationship Type="http://schemas.openxmlformats.org/officeDocument/2006/relationships/image" Target="/ppt/media/image9.png" Id="R61dc1bf526594d47" /><Relationship Type="http://schemas.openxmlformats.org/officeDocument/2006/relationships/notesSlide" Target="/ppt/notesSlides/notesSlide8.xml" Id="R62bebc1dfa4f45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a5685f5cab425d" /><Relationship Type="http://schemas.openxmlformats.org/officeDocument/2006/relationships/image" Target="/ppt/media/image8.jpeg" Id="R779b245259bd4de2" /><Relationship Type="http://schemas.openxmlformats.org/officeDocument/2006/relationships/image" Target="/ppt/media/image10.png" Id="R00e513f3a69a4d61" /><Relationship Type="http://schemas.openxmlformats.org/officeDocument/2006/relationships/notesSlide" Target="/ppt/notesSlides/notesSlide9.xml" Id="R1bcc4e09c56e46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c3fb2f7e984fd7" /><Relationship Type="http://schemas.openxmlformats.org/officeDocument/2006/relationships/image" Target="/ppt/media/image9.jpeg" Id="R06c0d7b618564c4d" /><Relationship Type="http://schemas.openxmlformats.org/officeDocument/2006/relationships/image" Target="/ppt/media/image11.png" Id="R938fa90833394099" /><Relationship Type="http://schemas.openxmlformats.org/officeDocument/2006/relationships/notesSlide" Target="/ppt/notesSlides/notesSlide10.xml" Id="Rd27d2c68a10c43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8C77A-EA57-4DD0-B44D-674ABD69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9d58c14af4152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346C7-B172-449E-8599-68E28D83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7DE7C-8008-46C8-9F28-498551C7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7165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4648B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4648B9"/>
                </a:solidFill>
                <a:latin typeface="Arial"/>
                <a:ea typeface="Arial"/>
                <a:cs typeface="Arial"/>
              </a:rPr>
              <a:t>NFS-Ganesha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3379D-FF53-4443-9A5F-7C1F1F16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28900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架构、MDCACHE 缓存算法与实时命中率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59A61-F2FA-4E3C-A0B0-B4EF076D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19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综合 4 个源码梳理文档 | 重点：整体架构 / 缓存模块 / Prometheus 口径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44dc70a834fcd"/>
          <a:stretch xmlns:a="http://schemas.openxmlformats.org/drawingml/2006/main"/>
        </p:blipFill>
        <p:spPr>
          <a:xfrm xmlns:a="http://schemas.openxmlformats.org/drawingml/2006/main">
            <a:off x="723900" y="49530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77B0E-87B8-4B5C-B42E-F95C6660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76800"/>
            <a:ext cx="2819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48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5D0A6-3856-4255-AEAD-7F3B2DD8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768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4B6DE-2D9F-405B-A26C-FCB3FD00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1015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汇报人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B3ECE-A090-4E19-8994-57E7F2F0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86375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王祖鹏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53C8E-9249-4EDD-A403-524D8285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CD7BD-B950-427A-8921-68D6778C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8F966-3F3E-47E7-9B29-42C620BD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C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6DA1C-753E-45E8-B145-81D073BE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91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Zupeng Wang | HUST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87440-24D5-4F1A-94F0-224B5B8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553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65397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E51C97-8127-419F-A79E-B9D9DAA0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b4196a39a4fad"/>
          <a:stretch xmlns:a="http://schemas.openxmlformats.org/drawingml/2006/main"/>
        </p:blipFill>
        <p:spPr>
          <a:xfrm xmlns:a="http://schemas.openxmlformats.org/drawingml/2006/main">
            <a:off x="7810500" y="229249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d06a142ff4dc4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9624B-A2AD-400B-BF3A-65E5A1A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648B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48B9"/>
                </a:solidFill>
                <a:latin typeface="Arial"/>
                <a:ea typeface="Arial"/>
                <a:cs typeface="Arial"/>
              </a:rPr>
              <a:t>汇报主线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605CF-598A-4119-AF34-5B18E4CA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81FB4-EFCE-47D0-8058-5C1E98FB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8C55B-C5DB-423C-BE92-101EB0D1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AFBBD-3079-4F3F-88D8-79DA5DF1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C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D1333-82F8-402C-889B-1C268549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91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0603B-7E6C-40A5-BA5E-D2EC71DE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553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A534236-712D-4288-995C-BA2441CF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4648B9"/>
            </a:solidFill>
            <a:prstDash val="solid"/>
          </a:ln>
        </p:spPr>
      </p:sp>
      <p:sp>
        <p:nvSpPr>
          <p:cNvPr id="1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8BB77F9-0C46-48CD-B1B4-71C3163E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EXECUTIVE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08D31-7161-4709-A4AB-44EECD20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885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MDCACHE 是协议层和后端 FSAL 之间的透明元数据缓存，命中率必须按埋点口径解释。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16230-244E-4259-9085-E9B095CF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E"/>
          </a:solidFill>
          <a:ln xmlns:a="http://schemas.openxmlformats.org/drawingml/2006/main" w="9525">
            <a:solidFill>
              <a:srgbClr val="4648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2A265-08E1-4CD2-8646-B3360737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12EF5-896C-47B8-A6C8-05042C0C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架构定位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8351E-8D3A-4381-847B-9F8E6062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用户态 NFS server 分成 RPC/协议、SAL 状态层、FSAL 抽象和 stackable MDCACHE；缓存层位于具体 FSAL 之上。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6C7C8-9F82-4F63-97E2-61D49DD2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5A0D9-2211-4E06-A74A-A1BD8569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5E615-76B8-41BF-B800-9C347851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955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算法核心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93462-DA77-4C5E-9C11-CEDC95EA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71775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file handle 通过分区 direct pointer cache + AVL 查找；entry/chunk 回收由 17 lane LRU、L1/L2/ACTIVE/cleanup 管理。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9FD41-7759-4479-9E56-DD4255E5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070AC-EE73-40C0-BD1B-63B98B4C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7C9F6-5FEE-4030-A771-2B49673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80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803D"/>
                </a:solidFill>
                <a:latin typeface="微软雅黑"/>
                <a:ea typeface="微软雅黑"/>
                <a:cs typeface="微软雅黑"/>
              </a:rPr>
              <a:t>实时口径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308D7-2FCE-4554-9802-8F0E6057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71775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源码暴露 hit/miss counter，不直接暴露 gauge；Grafana/Prometheus 用 rate 或 increase 计算窗口命中率。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B1AFB9-3CA9-4008-9F65-6C97B88E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6781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AE089B-F62E-4A38-870D-940AE9AD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52950"/>
            <a:ext cx="6477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hit_rate = hits / (hits + misses)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hits   = sum(rate(mdcache_cache_hits_total[5m]))</a:t>
            </a:r>
          </a:p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misses = sum(rate(mdcache_cache_misses_total[5m]))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531BD-011B-4ADA-8145-F2FFD779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不能混用：CIH debug hit、DBus inode_hit、Prometheus lookup/getattr hit 分别代表不同层级。</a:t>
            </a:r>
          </a:p>
        </p:txBody>
      </p:sp>
    </p:spTree>
    <p:extLst>
      <p:ext uri="{BB962C8B-B14F-4D97-AF65-F5344CB8AC3E}">
        <p14:creationId xmlns:p14="http://schemas.microsoft.com/office/powerpoint/2010/main" val="18892892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F984BD-B9E9-4FFA-95EA-EF32E4F7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21a13d94949a7"/>
          <a:stretch xmlns:a="http://schemas.openxmlformats.org/drawingml/2006/main"/>
        </p:blipFill>
        <p:spPr>
          <a:xfrm xmlns:a="http://schemas.openxmlformats.org/drawingml/2006/main">
            <a:off x="7810500" y="229249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80d91618d484b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AE47D-C8FD-4787-B393-224C3E7A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648B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48B9"/>
                </a:solidFill>
                <a:latin typeface="Arial"/>
                <a:ea typeface="Arial"/>
                <a:cs typeface="Arial"/>
              </a:rPr>
              <a:t>整体架构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DE7C6-7684-49A4-93D9-B611FCD4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885CE-97A0-4F41-91AE-B21B6EF3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A0FFB-1195-4B1C-B068-D03FDC4F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37F11-3DBB-4454-BAFE-DB0E9440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C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8340C-6A89-4E9E-81E9-3A6B9D0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91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78D2A-96B1-4E29-9D9A-8002DF53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553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5E8965-C47B-4D7E-8F60-D0CEE2C7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4648B9"/>
            </a:solidFill>
            <a:prstDash val="solid"/>
          </a:ln>
        </p:spPr>
      </p:sp>
      <p:sp>
        <p:nvSpPr>
          <p:cNvPr id="1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F45401-2406-4398-AE67-940D34F3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LAYERED 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7FFEE-42D0-477F-A4BF-B4FDA9AD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请求路径从网络协议进入用户态 worker，经 SAL/FSAL 到 MDCACHE，再落到真实后端。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72A94-229B-45CD-9E32-3E3A83CC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EFDE9-ACE2-4772-AEAE-24B1F85B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96DAD-9232-4BD1-A073-2F2E425B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907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2F2EF-EA08-4178-817B-57EA802F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2A7CB-B535-4B85-9F35-0831C172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RPCAL / libntirpc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0BA99-628E-4B1C-8B58-47047C88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9082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0FEAC-2633-4A5A-8698-93932D79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2CCFBB-424B-48EB-A1C5-B7907573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MainNFSD worker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8F659-611A-406B-9C56-943D68E3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908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2E643-3F24-4ADF-8714-FA504E04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15F44-486B-4661-8DC5-75E1BD43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Protocol handlers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43A6A-CA8C-4F85-8DB3-BE129BFE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9092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984C9-7BC0-4838-8C65-3FB7934E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25150B-EA0D-41AA-BF1F-081DD6A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SAL state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A0261-E8CB-4AC7-BA3E-2714D1D5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909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7C4DA4-6450-42C5-A350-D2DE8032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77B100-8026-4643-AB9C-63C99864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FSAL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E9EB2B-5EC6-4B1C-A744-F47D3F68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9102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7049BF-0CF3-423D-9900-518D0AB9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E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14FC24-B739-436D-ACA0-CD46FA01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FSAL_MDCACHE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6752E4-FFA3-4A12-BEDF-71378BC4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910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0087D3-6DD0-48A0-80CE-C69A0F60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BA3F51-761A-45F8-9B70-A2AE6CB8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2442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Concrete FSAL / Backend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AD5FCB-E324-4543-8029-6A24175A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3714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48B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97B6EE-1A74-4CB7-A41D-06F3552E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C6C45F-07A7-4DDD-805E-5C833AC5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339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关键入口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1E2962-C080-4DDC-BE52-F30F52C0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19375"/>
            <a:ext cx="3390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`start_fsals()` 加载 MDCACHE/PSEUDO；`init_server_pkgs()` 初始化 MDCACHE；监控由 `Enable_Metrics` / `Enable_Dynamic_Metrics` 控制。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10DC00-3205-4BBE-9948-3FE89C04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3714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26516F-C043-4228-9F39-C600901C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57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E5354A-A59B-4957-A687-CB143949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67150"/>
            <a:ext cx="339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缓存边界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9AE9A8-8D25-466D-91F8-D9FE549D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43375"/>
            <a:ext cx="3390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MDCACHE 位于 FSAL API 和具体后端之间，只对元数据相关访问提供透明缓存；miss 或刷新才下探到 sub-FSAL。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C48816-69ED-435D-BC72-2B02E5E9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054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需要单独解释的口径：协议请求量、CIH file-handle 命中、MDCACHE lookup/getattr 命中率不是同一个指标。</a:t>
            </a:r>
          </a:p>
        </p:txBody>
      </p:sp>
    </p:spTree>
    <p:extLst>
      <p:ext uri="{BB962C8B-B14F-4D97-AF65-F5344CB8AC3E}">
        <p14:creationId xmlns:p14="http://schemas.microsoft.com/office/powerpoint/2010/main" val="18388927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8F6F0C-98D8-450B-B5EC-5CADBF77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b37ee983740ba"/>
          <a:stretch xmlns:a="http://schemas.openxmlformats.org/drawingml/2006/main"/>
        </p:blipFill>
        <p:spPr>
          <a:xfrm xmlns:a="http://schemas.openxmlformats.org/drawingml/2006/main">
            <a:off x="7810500" y="229249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89aabfcde4c88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FCA15-1D5A-4C6F-9D20-1DC18077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648B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48B9"/>
                </a:solidFill>
                <a:latin typeface="Arial"/>
                <a:ea typeface="Arial"/>
                <a:cs typeface="Arial"/>
              </a:rPr>
              <a:t>MDCACHE 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8F1DB-1FEC-4F85-A78C-DBE222C6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285DC-38BA-4234-9153-042F2BB7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2991B-1D76-4953-91F7-61E50D46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B7B70-4E28-4960-9EE7-A5E14180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C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CB389-E075-4277-81EE-0729E64A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91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B3876-D6B1-4E12-8908-4DD16C5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553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DD11E4A-CC3C-4EB1-9A78-D59C2424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4648B9"/>
            </a:solidFill>
            <a:prstDash val="solid"/>
          </a:ln>
        </p:spPr>
      </p:sp>
      <p:sp>
        <p:nvSpPr>
          <p:cNvPr id="1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BA06B6E-5826-4A71-A8C4-45E2DDB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STACKABLE FSAL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4EF0E-306D-4B09-A0E6-29912BA7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866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MDCACHE 不是最终后端，而是包在具体 FSAL 上方的可堆叠缓存层。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695F2-E2A6-437E-8E34-87826443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943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0989B-BA73-4D18-A329-42AE5374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Protocol handler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2C710-2AB6-4BB3-BCB9-C49752CB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LOOKUP / GETATTR / READDIR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DC6A0-D00B-46B4-AF04-8D673325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384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2A2EC-6A45-48B8-ABA8-F2C5CC1E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14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03800-858C-46CC-A74F-E4CDF50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1943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6DDB2-7A5F-4C79-B526-82D7B79F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336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FSAL object 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6676D-A4CD-4BBD-88A1-CA98B574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194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统一对象/导出操作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C7705-B833-4F22-9916-A0691573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384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1D4822-A72B-4A8F-9479-951946A2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14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1F4494-1098-4796-A01E-4B15F460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19350"/>
            <a:ext cx="1943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E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5FCD67-F758-4958-9287-7D694D94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336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MDCACHE ops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B90FB-A9C0-44F0-AE61-CF05CFF3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194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先查缓存，miss 再下探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1CB4A6-4726-424B-92DE-708FD113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384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96DBDD-0617-4322-B4F1-C9A1D87B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14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E95923-5DAB-46E2-8F57-EBD34FEA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1943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246ED-3EE5-421E-825F-08819921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sub-FSAL ops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16664E-64D3-4800-9365-61AD398C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194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VFS/CEPH/GPFS 等真实访问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6B2D6F-31A9-4A86-A19F-D725C324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E"/>
          </a:solidFill>
          <a:ln xmlns:a="http://schemas.openxmlformats.org/drawingml/2006/main" w="9525">
            <a:solidFill>
              <a:srgbClr val="4648B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2F5CB5-09DE-48FA-AABC-28A2D88B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30866D-CCC2-49E2-9DE5-DAC50340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缓存内容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1AAEAD-5FA0-4C1C-862E-4BF7A1A2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05325"/>
            <a:ext cx="2533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对象 handle、属性 attrs、目录 name-&gt;child key、READDIR chunk、symlink 内容。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917DBB-741C-47BC-A059-686CE898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4E48F7-FB09-42F2-B9DC-E631C33F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601434-9929-40B8-8C3B-9B58A83B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80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803D"/>
                </a:solidFill>
                <a:latin typeface="微软雅黑"/>
                <a:ea typeface="微软雅黑"/>
                <a:cs typeface="微软雅黑"/>
              </a:rPr>
              <a:t>命中前提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BDE399-3915-4B52-9B6E-3F0105E9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05325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dirent 内容可信、child key 仍在 CIH、export mapping 有效；getattr 还要满足 valid_mask、trust flags 和过期时间。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4F42DD-FB5E-4D6A-A657-4ACD850F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6A8F1D-5145-4C79-9159-CD6EB8C5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669636-6E91-48E0-A0B4-AF5B3B20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失效机制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11B2F0-5484-4AF0-8611-8886994F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05325"/>
            <a:ext cx="2533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属性超时、trust flags、FSAL upcall、目录 mtime、显式 create/remove/rename/link、stale handle、unexport cleanup。</a:t>
            </a:r>
          </a:p>
        </p:txBody>
      </p:sp>
    </p:spTree>
    <p:extLst>
      <p:ext uri="{BB962C8B-B14F-4D97-AF65-F5344CB8AC3E}">
        <p14:creationId xmlns:p14="http://schemas.microsoft.com/office/powerpoint/2010/main" val="4552522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DF5845-6D1F-4998-8BE5-F768953E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f301141a344ac"/>
          <a:stretch xmlns:a="http://schemas.openxmlformats.org/drawingml/2006/main"/>
        </p:blipFill>
        <p:spPr>
          <a:xfrm xmlns:a="http://schemas.openxmlformats.org/drawingml/2006/main">
            <a:off x="7810500" y="229249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e042d63684ca9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78BDB-AAC5-44C1-BD9D-D62705EA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648B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48B9"/>
                </a:solidFill>
                <a:latin typeface="Arial"/>
                <a:ea typeface="Arial"/>
                <a:cs typeface="Arial"/>
              </a:rPr>
              <a:t>CIH 查找算法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79B54-AE28-4ECD-B289-567C1889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C3024-FF2B-40CE-9B6B-8884E8ED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BE50A-2842-4015-B61C-280C406B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B0130-61C1-43D4-8027-4675B2EE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C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9E965-BA3C-4FF8-8AB0-DA941974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91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2DCCD-DFD9-4BD2-8915-80EC87D2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553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31B9B3E-8855-4D68-8D21-05555D0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4648B9"/>
            </a:solidFill>
            <a:prstDash val="solid"/>
          </a:ln>
        </p:spPr>
      </p:sp>
      <p:sp>
        <p:nvSpPr>
          <p:cNvPr id="1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4FF781-A3BE-4BC2-95CD-08C86CF4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CIH LOOKUP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2BA31-F44B-4E80-A82F-2E3BB76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CIH 用 hash 分区降低锁竞争，用 direct slot 提供近似 O(1) 快路径，冲突后退到 AVL。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6A3DB-8F7F-42C2-99C2-0FE9E65B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733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01B6A-6459-4CAD-B7C9-F09301D2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hk = CityHash64WithSeed(fh, len, 557)</a:t>
            </a:r>
          </a:p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partition = hk % npart</a:t>
            </a:r>
          </a:p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slot = hk % cache_size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8A76B-F439-4BF9-96A8-9BE8EEC2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824F8-A2CF-4242-9FA4-871BCDB9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098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Partition mutex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35A8B-B042-4035-8B33-562ABCED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锁住 key 所属 partition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86457-BE82-476C-9C90-82587A5C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E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3C349-B69D-4936-AAAF-19CB3895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Direct cache slot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94549-88ED-4A78-ACF0-0664F95F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955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key 相等：直接命中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F545E-5942-4FC6-BD4B-84F234EE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D4B968-F175-46C5-8F26-1883C29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52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746C50-F123-44C9-848F-4E0BD3D4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D2FBCC-DFC0-4A8E-81AC-657AEB9A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52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D3F99-D61C-4207-8549-CEA479FC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E83FA-122D-4AD8-984A-B956FE4F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576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Partition AVL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296E82-36D0-4A3F-A564-1F7BDD77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433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slot 冲突后 O(log n) 查找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99AA5C-48E5-4FA1-A387-CBB1D52C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2CA58-46F8-4CE6-AFF7-ED06D4B6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Update slot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B9FA71-6036-485F-9203-39CB8B71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AVL 命中后刷新 direct cache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294377-FFE4-41CD-9F9F-8F6D81F3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433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BDDB63-D104-441D-95D5-5FBF868D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9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DDB0D1-CE35-47B4-A0DA-CF7D609D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DBAE37-A8BB-467D-A909-5886B912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fast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AE920C-619B-46CB-B666-24840BA6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2445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9095FD-340B-43C4-BBF9-FA51148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244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93C97D-E706-4363-B876-55ADD236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86350"/>
            <a:ext cx="52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288397-C26F-40E4-B1AB-38BDD9BA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AVL fallback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C211AF-68CD-4873-A54D-962506D8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46735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363322-5A4C-447B-8CAF-C2969978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46735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FDDCA7-5298-4500-9126-45E78DA1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429250"/>
            <a:ext cx="52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4F68DD-106C-4BE4-B40E-991CF5AA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复杂度解读：direct cache 命中近似 O(1)；冲突后 AVL 是 O(log n)，n 为该 partition 内 entry 数。</a:t>
            </a:r>
          </a:p>
        </p:txBody>
      </p:sp>
    </p:spTree>
    <p:extLst>
      <p:ext uri="{BB962C8B-B14F-4D97-AF65-F5344CB8AC3E}">
        <p14:creationId xmlns:p14="http://schemas.microsoft.com/office/powerpoint/2010/main" val="5638173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936EB6-D900-44EA-8AF0-E201479B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72a0e0ad244c5"/>
          <a:stretch xmlns:a="http://schemas.openxmlformats.org/drawingml/2006/main"/>
        </p:blipFill>
        <p:spPr>
          <a:xfrm xmlns:a="http://schemas.openxmlformats.org/drawingml/2006/main">
            <a:off x="7810500" y="229249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a442d87774a6e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45685-B4B9-4947-9BA3-4DF98470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648B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48B9"/>
                </a:solidFill>
                <a:latin typeface="Arial"/>
                <a:ea typeface="Arial"/>
                <a:cs typeface="Arial"/>
              </a:rPr>
              <a:t>缓存对象模型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14F17-A130-42AC-8D73-A4A541F4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B101C-F147-4123-86B4-16B18B32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A6FC1-DA86-4DAA-90E0-97FA4E6A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C562E-2568-413B-B658-4FC37D88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C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1C5A7-0B30-48CA-A011-F6D720F7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91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C5469-7ADC-4419-BDD4-4F96A8EE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553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1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58BE38D-252E-492C-98C9-01864A76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4648B9"/>
            </a:solidFill>
            <a:prstDash val="solid"/>
          </a:ln>
        </p:spPr>
      </p:sp>
      <p:sp>
        <p:nvSpPr>
          <p:cNvPr id="1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9230CC2-BB6A-493C-AC8A-944F66D6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ENTRY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B6C28-1FC0-4D95-B793-6EAE41C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`mdcache_entry_t` 把上层 FSAL handle、下层 sub_handle、属性、目录内容和 LRU 状态封装在同一对象。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25673-DF92-4D8B-9547-9718E51A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D317C-BAB8-4A2E-86B3-F7F88120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905BD-F0C7-42FB-92F0-21ED234B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obj_handle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FC13E-D5E4-4BFC-A4D2-E70C0127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对上层暴露的 MDCACHE FSAL handle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D09CD-12CF-405C-A9AF-8C02202D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36B30-AEF8-4C99-99B5-74C606D9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6E277-98F3-44C7-A4C1-D278C0F7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sub_handle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A5C1C-2847-4868-97BB-632205EA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43175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指向下层真实 FSAL handle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0D672-ED35-4624-8B16-B0DD36FA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3D783-2669-4542-B164-2E08FA1E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12346-B5E2-45E0-8062-AD003BE4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attrs / attr_time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67B20-2EDE-4516-978E-BC8BDAB9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缓存属性、ACL、fs_locations 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36259-9D8D-422E-9268-55AF0B29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551933-73B8-4379-9F1C-BC0CDD15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BA2367-06DF-4B1C-B669-51866A84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fh_hk.key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3CB6DA-866E-4EBB-993E-15CBA83F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CIH file handle lookup key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ADCC59-9772-4700-BD3A-FD71E57D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0CB412-B29A-4719-8E30-D2E908CB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87347-ABC5-4F52-B662-494CD829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mde_flags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FF7AF5-4AC3-47C3-93A0-49DFDFA5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TRUST_ATTRS / TRUST_CONTENT 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690038-7080-450E-963B-19DE5141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E"/>
          </a:solidFill>
          <a:ln xmlns:a="http://schemas.openxmlformats.org/drawingml/2006/main" w="9525">
            <a:solidFill>
              <a:srgbClr val="4648B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FDB27B-CC54-4030-95F8-5F89EA7F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168868-C8B5-4660-B45B-9DDAC42C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433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lru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67BA2F-0708-446C-9DDD-2266759B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19575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refcnt、active ref、队列位置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D93A7A-8AD2-49FA-8D97-338ECA04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C4D7D9-5661-4C58-BFDA-B6AB824A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3E24E3-1156-448E-8938-A2591B53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content_lock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DBB787-2447-400D-A927-A04B95A5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目录 AVL、chunk、symlink 内容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5DC85E-855A-42BE-8BB0-A7D11B22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482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B5971E-FC88-428E-B90F-1DF2101E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482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AB8E1B-7DBB-4386-8F8F-F28D3BC0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815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export_list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CFA360-8E3D-453B-A8FC-1756FC2C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57775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entry 与 export 的多对多映射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31E369-B25F-4AE7-B43D-96DF0374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648B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0B6B0D-9C4D-4818-94F5-768852F3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目录对象额外结构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246443-F316-4338-A020-17042524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014849-DC3F-4CEA-B83A-3EE194F2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146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name AVL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9347E7-0AA6-4791-96BF-DED66A47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79C4DF-740E-46D0-A249-69CAB0C4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cookie AVL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E7BEC4-3BEC-480F-B7E4-044567FA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48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D2E401-D63D-4357-8CC1-96869384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18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sorted AVL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8F9B06-9AD4-4EA1-AE75-157BC28A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B3FFA8-C345-4E07-BE35-065A7F97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00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chunks list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4AEDF7-C695-45E0-AB22-3ADD0991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3E3009-A040-4B5A-A144-810C1BEC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29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detached dirents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C013CC-E152-46A8-BCEA-52D9580A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目录 lookup 命中要求：父目录内容可信 + name AVL 找到 dirent + child key 在 CIH 中有效。</a:t>
            </a:r>
          </a:p>
        </p:txBody>
      </p:sp>
    </p:spTree>
    <p:extLst>
      <p:ext uri="{BB962C8B-B14F-4D97-AF65-F5344CB8AC3E}">
        <p14:creationId xmlns:p14="http://schemas.microsoft.com/office/powerpoint/2010/main" val="8572879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81F9AC-1DB5-4237-B597-9D554948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898d55c864436"/>
          <a:stretch xmlns:a="http://schemas.openxmlformats.org/drawingml/2006/main"/>
        </p:blipFill>
        <p:spPr>
          <a:xfrm xmlns:a="http://schemas.openxmlformats.org/drawingml/2006/main">
            <a:off x="7810500" y="229249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6a1103cd2433d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C6256-2215-446A-9CDE-BF358B56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648B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48B9"/>
                </a:solidFill>
                <a:latin typeface="Arial"/>
                <a:ea typeface="Arial"/>
                <a:cs typeface="Arial"/>
              </a:rPr>
              <a:t>LRU 淘汰算法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61BEB-A54A-4C74-BAF3-2E56BA2E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BDB12-7BD1-40EA-96D5-9B3EC3F7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740E7-2A56-4DA8-BD7A-BA25B394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7630B-6703-40BB-AACE-80BA2858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C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1C984-A25E-4C30-A71E-B18582B0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91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02555-9D19-41D8-A6DF-CB4E6D86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553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1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9C17498-AF7B-4554-B0AC-C7E6F7EB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4648B9"/>
            </a:solidFill>
            <a:prstDash val="solid"/>
          </a:ln>
        </p:spPr>
      </p:sp>
      <p:sp>
        <p:nvSpPr>
          <p:cNvPr id="1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268BA0-07EC-4AAF-A359-8E8474F7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LRU ALGORITHM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9AFCF-A392-495C-9478-176C428F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MDCACHE 的 LRU 是生命周期管理：17 个 lane 降低竞争，L1/L2/ACTIVE 分离热访问、扫描污染和活跃引用。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3D4BD-1A9D-48D3-BFB6-FCFAC4C9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E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D65FA-F278-40C0-B668-47572021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5EF5D-2CC4-4445-8B36-1CD5549F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当前仍被请求持有 active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51398-8004-4862-943B-28CCB04D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5EBED-4683-4FFA-91E6-15F16D40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803D"/>
                </a:solidFill>
                <a:latin typeface="微软雅黑"/>
                <a:ea typeface="微软雅黑"/>
                <a:cs typeface="微软雅黑"/>
              </a:rPr>
              <a:t>L1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9D0F5-A766-4EC8-9DAC-DCBECD0D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622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主动访问/提升后的热对象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23376-5835-47E5-99EF-AF5B152E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7EB71-1227-412A-B595-7AB333F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L2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3F20E-9A1C-481F-908B-4E496E40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较冷对象或目录扫描对象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BAEC4-71A7-4ED1-A05C-64651661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622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D3582-E0CB-4DCD-9184-F55DC0E3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cleanup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9A069-DD05-4F60-BDAD-4C153B2C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622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延迟清理对象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41349-7C99-43E5-BE73-C3C7628A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622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C5CFD-FF97-4FA3-8310-FDC051F0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38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80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803D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77CB2-E693-4AEE-8D5B-618D796C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7622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F4CA27-1ED4-4841-9E52-0F5AABEB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38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CB31DD-FE94-4C1D-A0E9-37BDBE2B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622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86048-A9B7-410A-9E64-47DA50F8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38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2F31DE-1DBA-4F0D-8246-9294787D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48B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405DB0-37EA-49FA-81EC-11714CFF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13046D-B639-4428-910F-8EBEC5D3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迁移规则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A1CD93-CD2A-4154-BA64-4548BDED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3676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新 entry 插入 ACTIVE；释放最后 active ref 后，若被 LRU_PROMOTE 标记进 L1，否则进 L2；reaper 周期扫描 L1 并 demote 冷对象。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F6A1A3-4C50-4839-B17F-99D6E87E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2905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50DB9D-6925-4085-A45B-5BCCC32B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290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2F3E57-B0B5-467E-A5A6-B23F1EDD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6240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回收策略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3DE0F2-B149-4E9D-9059-E5C38D1D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38625"/>
            <a:ext cx="3676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entries_used 超过 Entries_HWMark 时，后台 reaper 调用 `mdcache_lru_release_entries()`，优先尝试 L2，再尝试 L1。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AFF6E5-2D32-41C1-BCAF-5C8960DB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核心价值：把大目录扫描的一次性对象更快落入 L2，降低 scan pollution；请求线程不承担大块清理延迟。</a:t>
            </a:r>
          </a:p>
        </p:txBody>
      </p:sp>
    </p:spTree>
    <p:extLst>
      <p:ext uri="{BB962C8B-B14F-4D97-AF65-F5344CB8AC3E}">
        <p14:creationId xmlns:p14="http://schemas.microsoft.com/office/powerpoint/2010/main" val="19825202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DDE100-3C39-4D11-B051-8489404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3c7dcd4194faa"/>
          <a:stretch xmlns:a="http://schemas.openxmlformats.org/drawingml/2006/main"/>
        </p:blipFill>
        <p:spPr>
          <a:xfrm xmlns:a="http://schemas.openxmlformats.org/drawingml/2006/main">
            <a:off x="7810500" y="229249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c1bf526594d47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4CC47-03F1-4970-A3B6-1AAFC4D9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648B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48B9"/>
                </a:solidFill>
                <a:latin typeface="Arial"/>
                <a:ea typeface="Arial"/>
                <a:cs typeface="Arial"/>
              </a:rPr>
              <a:t>命中率埋点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B7CA5-AA2F-4627-8D3B-668FF714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E4455-853D-4079-A2C0-80965BD9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E7E64-D6AA-496D-9387-3E24556C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13DE5-1455-451D-8D0E-8FF7D92D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C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45C50-E235-40CB-AFD0-4B2B37AC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91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302A-1A99-4387-A195-78D5A929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553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3396AC-6571-4801-8C99-D82A6FCC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4648B9"/>
            </a:solidFill>
            <a:prstDash val="solid"/>
          </a:ln>
        </p:spPr>
      </p:sp>
      <p:sp>
        <p:nvSpPr>
          <p:cNvPr id="1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E2A6088-1D2B-45D2-93DD-C301707B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INSTRUMENTATION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085DA-D7AF-4B54-B88C-9020D271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当前可靠的实时命中率来自 Prometheus 动态 counter，覆盖已埋点的 lookup/getattr。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0EB4F-04A9-4DC7-8FA0-639D44C4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C5102-7DA8-4F93-92CF-50F4B464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mdcache_getattrs()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2A1E4-B053-45C2-9DA5-F777F486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operation="getattr"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5EC2A-6C94-425C-B2C1-D1FBACF5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CE165-F74A-4525-AF6E-4033803D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mdc_lookup()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45334-8AF7-49C0-B9B7-B7C724D4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operation="lookup"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59046-4C28-4947-B6EB-7D6FB65E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E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B14C2-5447-4149-A48E-30D2BE1D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840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803D"/>
                </a:solidFill>
                <a:latin typeface="微软雅黑"/>
                <a:ea typeface="微软雅黑"/>
                <a:cs typeface="微软雅黑"/>
              </a:rPr>
              <a:t>dynamic_metrics__mdcache_cache_hit()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C26EC-0BD5-43A1-8EFB-143D9E9E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递增 hits_total / hits_by_export_total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0C2979-8C55-4B8C-9260-A08275C7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8587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77D66-30C8-4F2D-8EAD-9F75C4B9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3380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dynamic_metrics__mdcache_cache_miss()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540572-E9E5-4D7B-8F51-470812F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递增 misses_total / misses_by_export_total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05884E-66B3-46A6-A484-CCF14494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860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A3E3D1-F52D-4F8E-9A7E-77E3F3C7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80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803D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0E9592-F334-44E6-A60E-A32B3A25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814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BE2EC-6C71-4379-A627-468E7DE6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5F77D-310C-4400-A1BA-9C1E4A4E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686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48B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34591B-55C6-4DD2-B5A9-ED3F0961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5A1A2-7C0F-43BD-BCF0-52F5F90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启用条件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5655B9-C781-41C9-9187-368D4ABA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57475"/>
            <a:ext cx="2362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`USE_MONITORING` 编译开启；配置 `Enable_Metrics = true` 启动 exporter；`Enable_Dynamic_Metrics = true` 初始化动态指标。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C07834-F808-4F01-9180-A27AAB2A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2686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E0B8C6-BC7E-4416-8EA3-4912CB2C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2AA5ED-EFBA-4B0B-AE16-D160CB13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576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口径边界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28A774-A34A-40BC-A472-9CA38EFE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33875"/>
            <a:ext cx="2362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不是所有内部 CIH、READDIR chunk、FD LRU 或属性刷新路径的全量统计；negative lookup 可能按 miss 计。</a:t>
            </a:r>
          </a:p>
        </p:txBody>
      </p:sp>
    </p:spTree>
    <p:extLst>
      <p:ext uri="{BB962C8B-B14F-4D97-AF65-F5344CB8AC3E}">
        <p14:creationId xmlns:p14="http://schemas.microsoft.com/office/powerpoint/2010/main" val="19910692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44C2CF-8B7E-4C37-BB24-82121F7E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b245259bd4de2"/>
          <a:stretch xmlns:a="http://schemas.openxmlformats.org/drawingml/2006/main"/>
        </p:blipFill>
        <p:spPr>
          <a:xfrm xmlns:a="http://schemas.openxmlformats.org/drawingml/2006/main">
            <a:off x="7810500" y="229249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513f3a69a4d61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AD484-86BC-42FD-BD5A-C0487E11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648B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48B9"/>
                </a:solidFill>
                <a:latin typeface="Arial"/>
                <a:ea typeface="Arial"/>
                <a:cs typeface="Arial"/>
              </a:rPr>
              <a:t>实时命中率计算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D23B0-97EB-4F62-842A-D2A5A973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6E17A-0472-42B0-BE2A-43A8ED55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6308B-8BE3-46C3-9578-BF7BCE2F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12D38-8AB6-4BFD-999C-1EE3DEB3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C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0A3C8-27F6-4870-B374-A0DB97ED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91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0EF4B-8799-4129-BE24-C73A6A3A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553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37A219E-D66B-47E1-ADB5-E58DF5FF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4648B9"/>
            </a:solidFill>
            <a:prstDash val="solid"/>
          </a:ln>
        </p:spPr>
      </p:sp>
      <p:sp>
        <p:nvSpPr>
          <p:cNvPr id="1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2851F1-EF82-4E8F-816C-008F4DBC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648B9"/>
                </a:solidFill>
                <a:latin typeface="微软雅黑"/>
                <a:ea typeface="微软雅黑"/>
                <a:cs typeface="微软雅黑"/>
              </a:rPr>
              <a:t>REALTIME HIT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04984-A8A7-4631-9876-479BDC63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源码暴露 counter，不暴露实时 gauge；查询层用滑动窗口 rate()/increase() 生成命中率。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CFD98-6E73-4356-B3B3-DD20BBAF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857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9CEE6-E6A8-43D9-8A1A-D7431E28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5529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sum(rate(mdcache_cache_hits_total[5m]))</a:t>
            </a:r>
          </a:p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/</a:t>
            </a:r>
          </a:p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sum(rate(mdcache_cache_hits_total[5m]))</a:t>
            </a:r>
          </a:p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+</a:t>
            </a:r>
          </a:p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  sum(rate(mdcache_cache_misses_total[5m]))</a:t>
            </a:r>
          </a:p>
          <a:p xmlns:a="http://schemas.openxmlformats.org/drawingml/2006/main">
            <a:pPr algn="l">
              <a:defRPr sz="938" b="0">
                <a:solidFill>
                  <a:srgbClr val="E6EDF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6EDF7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F4345-54E5-48D2-9D9F-5225C44F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41ADA-84AE-479B-9560-6DA1ED08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6B501-681B-42F3-9CF4-423923FB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按操作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034DF-3428-4A82-8F29-50A0DB02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24125"/>
            <a:ext cx="3676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sum by (operation)(rate(hits[1m])) / (hits + misses)</a:t>
            </a:r>
          </a:p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当前主要 operation：lookup、getattr。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A9B02-BF01-4303-A5F7-5F76966F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2A6EB-AD7C-4BBD-96A7-E84F135F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7C101-D420-460A-93A0-F6A81C1E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80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803D"/>
                </a:solidFill>
                <a:latin typeface="微软雅黑"/>
                <a:ea typeface="微软雅黑"/>
                <a:cs typeface="微软雅黑"/>
              </a:rPr>
              <a:t>按 export + operation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71608-F3AB-4DEC-AC9E-C5241D9B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48075"/>
            <a:ext cx="3676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使用 `mdcache_cache_hits_by_export_total` 和 misses_by_export_total，定位热点 export 和异常操作。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CAD24-CDFA-4E46-86F0-CEB8FFA4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08FAFB-E169-4E2A-B55E-C9574F68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E14A7-C01F-4FF2-8DA6-970A021D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无流量窗口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FA4FB-0F3E-4937-9558-D6D8FD0D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72025"/>
            <a:ext cx="3676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分母为 0 时建议展示 N/A；用 clamp_min 可显示 0，但语义上不代表缓存效果差。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A56326-CD19-4CA1-B5C3-DA75000E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面板建议：同时展示 hit rate、hit/s、miss/s、nfs_requests_total，避免只看比例造成误判。</a:t>
            </a:r>
          </a:p>
        </p:txBody>
      </p:sp>
    </p:spTree>
    <p:extLst>
      <p:ext uri="{BB962C8B-B14F-4D97-AF65-F5344CB8AC3E}">
        <p14:creationId xmlns:p14="http://schemas.microsoft.com/office/powerpoint/2010/main" val="5238247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C6E21A-937A-4D75-9ED1-FC689333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0d7b618564c4d"/>
          <a:stretch xmlns:a="http://schemas.openxmlformats.org/drawingml/2006/main"/>
        </p:blipFill>
        <p:spPr>
          <a:xfrm xmlns:a="http://schemas.openxmlformats.org/drawingml/2006/main">
            <a:off x="7810500" y="229249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fa90833394099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75022-F988-4761-8243-EEEF5325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0287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C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40920-4169-4F2B-9029-9FE3C981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42950"/>
            <a:ext cx="1466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704F0-C022-4D7F-B115-A41B5435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81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DC61F-98E2-47A7-BE19-F237230B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1752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C2C3B-4ABE-4414-956D-69CC6277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90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C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8D24B-3F3E-44DF-8162-0C4BD52A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43450"/>
            <a:ext cx="2190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648B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648B9"/>
                </a:solidFill>
                <a:latin typeface="Arial"/>
                <a:ea typeface="Arial"/>
                <a:cs typeface="Arial"/>
              </a:rPr>
              <a:t>Q&amp;A</a:t>
            </a:r>
          </a:p>
          <a:p xmlns:a="http://schemas.openxmlformats.org/drawingml/2006/main">
            <a:pPr algn="ctr">
              <a:defRPr sz="3150" b="1">
                <a:solidFill>
                  <a:srgbClr val="4648B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648B9"/>
                </a:solidFill>
                <a:latin typeface="Arial"/>
                <a:ea typeface="Arial"/>
                <a:cs typeface="Arial"/>
              </a:rPr>
              <a:t>Thanks!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648AB-A689-462B-BA40-3F2CC335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0"/>
            <a:ext cx="609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474"/>
                </a:solidFill>
                <a:latin typeface="微软雅黑"/>
                <a:ea typeface="微软雅黑"/>
                <a:cs typeface="微软雅黑"/>
              </a:rPr>
              <a:t>核心结论：实时命中率应从 Prometheus counter 的 rate()/increase() 得到；DBus mdcache_stats 当前不能作为完整命中率来源。</a:t>
            </a:r>
          </a:p>
        </p:txBody>
      </p:sp>
    </p:spTree>
    <p:extLst>
      <p:ext uri="{BB962C8B-B14F-4D97-AF65-F5344CB8AC3E}">
        <p14:creationId xmlns:p14="http://schemas.microsoft.com/office/powerpoint/2010/main" val="321424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2026-05-17T07:16:59.5260000Z</dcterms:created>
  <dcterms:modified xsi:type="dcterms:W3CDTF">2026-05-17T07:16:59.5260000Z</dcterms:modified>
</coreProperties>
</file>